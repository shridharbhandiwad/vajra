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 sz="4400">
                <a:solidFill>
                  <a:srgbClr val="0066CC"/>
                </a:solidFill>
              </a:defRPr>
            </a:pPr>
            <a:r>
              <a:t>Radar System Monitoring Application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Architecture, Design, Patterns &amp; Implementation</a:t>
            </a:r>
          </a:p>
          <a:p>
            <a:r>
              <a:t>Comprehensive Technical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0066CC"/>
                </a:solidFill>
              </a:defRPr>
            </a:pPr>
            <a:r>
              <a:t>Table of 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t>1. Project Overview</a:t>
            </a:r>
          </a:p>
          <a:p>
            <a:pPr>
              <a:spcAft>
                <a:spcPts val="1200"/>
              </a:spcAft>
              <a:defRPr sz="1800"/>
            </a:pPr>
            <a:r>
              <a:t>2. System Architecture</a:t>
            </a:r>
          </a:p>
          <a:p>
            <a:pPr>
              <a:spcAft>
                <a:spcPts val="1200"/>
              </a:spcAft>
              <a:defRPr sz="1800"/>
            </a:pPr>
            <a:r>
              <a:t>3. Design Principles &amp; Patterns</a:t>
            </a:r>
          </a:p>
          <a:p>
            <a:pPr>
              <a:spcAft>
                <a:spcPts val="1200"/>
              </a:spcAft>
              <a:defRPr sz="1800"/>
            </a:pPr>
            <a:r>
              <a:t>4. Core Components</a:t>
            </a:r>
          </a:p>
          <a:p>
            <a:pPr>
              <a:spcAft>
                <a:spcPts val="1200"/>
              </a:spcAft>
              <a:defRPr sz="1800"/>
            </a:pPr>
            <a:r>
              <a:t>5. Implementation Details</a:t>
            </a:r>
          </a:p>
          <a:p>
            <a:pPr>
              <a:spcAft>
                <a:spcPts val="1200"/>
              </a:spcAft>
              <a:defRPr sz="1800"/>
            </a:pPr>
            <a:r>
              <a:t>6. Key Features</a:t>
            </a:r>
          </a:p>
          <a:p>
            <a:pPr>
              <a:spcAft>
                <a:spcPts val="1200"/>
              </a:spcAft>
              <a:defRPr sz="1800"/>
            </a:pPr>
            <a:r>
              <a:t>7. Block Diagram</a:t>
            </a:r>
          </a:p>
          <a:p>
            <a:pPr>
              <a:spcAft>
                <a:spcPts val="1200"/>
              </a:spcAft>
              <a:defRPr sz="1800"/>
            </a:pPr>
            <a:r>
              <a:t>8. UML Class Diagram</a:t>
            </a:r>
          </a:p>
          <a:p>
            <a:pPr>
              <a:spcAft>
                <a:spcPts val="1200"/>
              </a:spcAft>
              <a:defRPr sz="1800"/>
            </a:pPr>
            <a:r>
              <a:t>9. Sequence Diagrams</a:t>
            </a:r>
          </a:p>
          <a:p>
            <a:pPr>
              <a:spcAft>
                <a:spcPts val="1200"/>
              </a:spcAft>
              <a:defRPr sz="1800"/>
            </a:pPr>
            <a:r>
              <a:t>10. Deployment Architecture</a:t>
            </a:r>
          </a:p>
          <a:p>
            <a:pPr>
              <a:spcAft>
                <a:spcPts val="1200"/>
              </a:spcAft>
              <a:defRPr sz="1800"/>
            </a:pPr>
            <a:r>
              <a:t>11. Technology Stack</a:t>
            </a:r>
          </a:p>
          <a:p>
            <a:pPr>
              <a:spcAft>
                <a:spcPts val="1200"/>
              </a:spcAft>
              <a:defRPr sz="1800"/>
            </a:pPr>
            <a:r>
              <a:t>12.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0066CC"/>
                </a:solidFill>
              </a:defRPr>
            </a:pPr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t>• Comprehensive Qt-based radar system monitoring application</a:t>
            </a:r>
          </a:p>
          <a:p>
            <a:pPr>
              <a:spcAft>
                <a:spcPts val="1200"/>
              </a:spcAft>
              <a:defRPr sz="1800"/>
            </a:pPr>
            <a:r>
              <a:t>• Real-time health monitoring and visualization</a:t>
            </a:r>
          </a:p>
          <a:p>
            <a:pPr>
              <a:spcAft>
                <a:spcPts val="1200"/>
              </a:spcAft>
              <a:defRPr sz="1800"/>
            </a:pPr>
            <a:r>
              <a:t>• Modular architecture with zero-code component extension</a:t>
            </a:r>
          </a:p>
          <a:p>
            <a:pPr>
              <a:spcAft>
                <a:spcPts val="1200"/>
              </a:spcAft>
              <a:defRPr sz="1800"/>
            </a:pPr>
            <a:r>
              <a:t>• Designer and Runtime modes with role-based access</a:t>
            </a:r>
          </a:p>
          <a:p>
            <a:pPr>
              <a:spcAft>
                <a:spcPts val="1200"/>
              </a:spcAft>
              <a:defRPr sz="1800"/>
            </a:pPr>
            <a:r>
              <a:t>• Multi-protocol support (TCP, UDP, WebSocket, MQTT)</a:t>
            </a:r>
          </a:p>
          <a:p>
            <a:pPr>
              <a:spcAft>
                <a:spcPts val="1200"/>
              </a:spcAft>
              <a:defRPr sz="1800"/>
            </a:pPr>
            <a:r>
              <a:t>• Advanced analytics dashboard with 10 chart types</a:t>
            </a:r>
          </a:p>
          <a:p>
            <a:pPr>
              <a:spcAft>
                <a:spcPts val="1200"/>
              </a:spcAft>
              <a:defRPr sz="1800"/>
            </a:pPr>
            <a:r>
              <a:t>• External Python simulators for testing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0066CC"/>
                </a:solidFill>
              </a:defRPr>
            </a:pPr>
            <a:r>
              <a:t>System Architecture - High Level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t>Three-tier architecture:</a:t>
            </a:r>
          </a:p>
          <a:p>
            <a:pPr lvl="1">
              <a:spcAft>
                <a:spcPts val="1200"/>
              </a:spcAft>
              <a:defRPr sz="1800"/>
            </a:pPr>
            <a:r>
              <a:t>Presentation Layer - Qt GUI</a:t>
            </a:r>
          </a:p>
          <a:p>
            <a:pPr lvl="2">
              <a:spcAft>
                <a:spcPts val="1200"/>
              </a:spcAft>
              <a:defRPr sz="1800"/>
            </a:pPr>
            <a:r>
              <a:t>Designer Mode (visual layout creation)</a:t>
            </a:r>
          </a:p>
          <a:p>
            <a:pPr lvl="2">
              <a:spcAft>
                <a:spcPts val="1200"/>
              </a:spcAft>
              <a:defRPr sz="1800"/>
            </a:pPr>
            <a:r>
              <a:t>Runtime Mode (real-time monitoring)</a:t>
            </a:r>
          </a:p>
          <a:p>
            <a:pPr lvl="2">
              <a:spcAft>
                <a:spcPts val="1200"/>
              </a:spcAft>
              <a:defRPr sz="1800"/>
            </a:pPr>
            <a:r>
              <a:t>Analytics Dashboard (data visualization)</a:t>
            </a:r>
          </a:p>
          <a:p>
            <a:pPr lvl="1">
              <a:spcAft>
                <a:spcPts val="1200"/>
              </a:spcAft>
              <a:defRPr sz="1800"/>
            </a:pPr>
            <a:r>
              <a:t>Business Logic Layer - Core Components</a:t>
            </a:r>
          </a:p>
          <a:p>
            <a:pPr lvl="2">
              <a:spcAft>
                <a:spcPts val="1200"/>
              </a:spcAft>
              <a:defRPr sz="1800"/>
            </a:pPr>
            <a:r>
              <a:t>Component Registry (modular management)</a:t>
            </a:r>
          </a:p>
          <a:p>
            <a:pPr lvl="2">
              <a:spcAft>
                <a:spcPts val="1200"/>
              </a:spcAft>
              <a:defRPr sz="1800"/>
            </a:pPr>
            <a:r>
              <a:t>Message Server (health data processing)</a:t>
            </a:r>
          </a:p>
          <a:p>
            <a:pPr lvl="2">
              <a:spcAft>
                <a:spcPts val="1200"/>
              </a:spcAft>
              <a:defRPr sz="1800"/>
            </a:pPr>
            <a:r>
              <a:t>Analytics Engine (metrics calculation)</a:t>
            </a:r>
          </a:p>
          <a:p>
            <a:pPr lvl="1">
              <a:spcAft>
                <a:spcPts val="1200"/>
              </a:spcAft>
              <a:defRPr sz="1800"/>
            </a:pPr>
            <a:r>
              <a:t>Data Layer</a:t>
            </a:r>
          </a:p>
          <a:p>
            <a:pPr lvl="2">
              <a:spcAft>
                <a:spcPts val="1200"/>
              </a:spcAft>
              <a:defRPr sz="1800"/>
            </a:pPr>
            <a:r>
              <a:t>JSON configuration (components.json)</a:t>
            </a:r>
          </a:p>
          <a:p>
            <a:pPr lvl="2">
              <a:spcAft>
                <a:spcPts val="1200"/>
              </a:spcAft>
              <a:defRPr sz="1800"/>
            </a:pPr>
            <a:r>
              <a:t>Design files (.design format)</a:t>
            </a:r>
          </a:p>
          <a:p>
            <a:pPr lvl="2">
              <a:spcAft>
                <a:spcPts val="1200"/>
              </a:spcAft>
              <a:defRPr sz="1800"/>
            </a:pPr>
            <a:r>
              <a:t>Real-time health data streams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3200">
                <a:solidFill>
                  <a:srgbClr val="0066CC"/>
                </a:solidFill>
              </a:defRPr>
            </a:pPr>
            <a:r>
              <a:t>System Architecture Diagram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4572000"/>
          </a:xfrm>
          <a:prstGeom prst="roundRect">
            <a:avLst/>
          </a:prstGeom>
          <a:solidFill>
            <a:srgbClr val="F0F8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latin typeface="Courier New"/>
              </a:defRPr>
            </a:pPr>
            <a:br/>
            <a:r>
              <a:t>┌─────────────────────────────────────────────────────────┐</a:t>
            </a:r>
            <a:br/>
            <a:r>
              <a:t>│                 Unified Application (Qt)                 │</a:t>
            </a:r>
            <a:br/>
            <a:r>
              <a:t>├─────────────────────────────────────────────────────────┤</a:t>
            </a:r>
            <a:br/>
            <a:r>
              <a:t>│  ┌──────────────┐  ┌──────────────┐  ┌──────────────┐  │</a:t>
            </a:r>
            <a:br/>
            <a:r>
              <a:t>│  │   Designer   │  │   Runtime    │  │  Analytics   │  │</a:t>
            </a:r>
            <a:br/>
            <a:r>
              <a:t>│  │     Mode     │  │    Monitor   │  │  Dashboard   │  │</a:t>
            </a:r>
            <a:br/>
            <a:r>
              <a:t>│  └──────┬───────┘  └──────┬───────┘  └──────┬───────┘  │</a:t>
            </a:r>
            <a:br/>
            <a:r>
              <a:t>│         │                  │                  │          │</a:t>
            </a:r>
            <a:br/>
            <a:r>
              <a:t>│  ┌──────┴──────────────────┴──────────────────┴───────┐ │</a:t>
            </a:r>
            <a:br/>
            <a:r>
              <a:t>│  │            Component Registry (Singleton)           │ │</a:t>
            </a:r>
            <a:br/>
            <a:r>
              <a:t>│  │  Loads from components.json - Zero-code Extension   │ │</a:t>
            </a:r>
            <a:br/>
            <a:r>
              <a:t>│  └──────────┬──────────────┬──────────────┬────────────┘ │</a:t>
            </a:r>
            <a:br/>
            <a:r>
              <a:t>│             │              │              │               │</a:t>
            </a:r>
            <a:br/>
            <a:r>
              <a:t>│    ┌────────┴────┐  ┌──────┴──────┐  ┌──────┴──────┐    │</a:t>
            </a:r>
            <a:br/>
            <a:r>
              <a:t>│    │  Component  │  │   Canvas    │  │  Message    │    │</a:t>
            </a:r>
            <a:br/>
            <a:r>
              <a:t>│    │    List     │  │  (Designer) │  │   Server    │    │</a:t>
            </a:r>
            <a:br/>
            <a:r>
              <a:t>│    └─────────────┘  └─────────────┘  └──────┬──────┘    │</a:t>
            </a:r>
            <a:br/>
            <a:r>
              <a:t>│                                              │           │</a:t>
            </a:r>
            <a:br/>
            <a:r>
              <a:t>└──────────────────────────────────────────────┼───────────┘</a:t>
            </a:r>
            <a:br/>
            <a:r>
              <a:t>                                               │</a:t>
            </a:r>
            <a:br/>
            <a:r>
              <a:t>                     ┌─────────────────────────┴─────┐</a:t>
            </a:r>
            <a:br/>
            <a:r>
              <a:t>                     │  TCP (12345) / UDP (12346)    │</a:t>
            </a:r>
            <a:br/>
            <a:r>
              <a:t>                     └─────────────────┬─────────────┘</a:t>
            </a:r>
            <a:br/>
            <a:r>
              <a:t>                                       │</a:t>
            </a:r>
            <a:br/>
            <a:r>
              <a:t>          ┌────────────────────────────┴──────────────────┐</a:t>
            </a:r>
            <a:br/>
            <a:r>
              <a:t>          │    External Subsystem Simulators (Python)     │</a:t>
            </a:r>
            <a:br/>
            <a:r>
              <a:t>          │  ┌──────┐  ┌──────┐  ┌──────┐  ┌──────┐      │</a:t>
            </a:r>
            <a:br/>
            <a:r>
              <a:t>          │  │comp_1│  │comp_2│  │comp_3│  │comp_N│      │</a:t>
            </a:r>
            <a:br/>
            <a:r>
              <a:t>          │  └──────┘  └──────┘  └──────┘  └──────┘      │</a:t>
            </a:r>
            <a:br/>
            <a:r>
              <a:t>          └───────────────────────────────────────────────┘</a:t>
            </a:r>
            <a:b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0066CC"/>
                </a:solidFill>
              </a:defRPr>
            </a:pPr>
            <a:r>
              <a:t>Software Design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t>• Single Responsibility Principle</a:t>
            </a:r>
          </a:p>
          <a:p>
            <a:pPr lvl="1">
              <a:spcAft>
                <a:spcPts val="1200"/>
              </a:spcAft>
              <a:defRPr sz="1800"/>
            </a:pPr>
            <a:r>
              <a:t>Each class has one well-defined purpose</a:t>
            </a:r>
          </a:p>
          <a:p>
            <a:pPr>
              <a:spcAft>
                <a:spcPts val="1200"/>
              </a:spcAft>
              <a:defRPr sz="1800"/>
            </a:pPr>
            <a:r>
              <a:t>• Open/Closed Principle</a:t>
            </a:r>
          </a:p>
          <a:p>
            <a:pPr lvl="1">
              <a:spcAft>
                <a:spcPts val="1200"/>
              </a:spcAft>
              <a:defRPr sz="1800"/>
            </a:pPr>
            <a:r>
              <a:t>Open for extension, closed for modification</a:t>
            </a:r>
          </a:p>
          <a:p>
            <a:pPr lvl="1">
              <a:spcAft>
                <a:spcPts val="1200"/>
              </a:spcAft>
              <a:defRPr sz="1800"/>
            </a:pPr>
            <a:r>
              <a:t>New components added via JSON without code changes</a:t>
            </a:r>
          </a:p>
          <a:p>
            <a:pPr>
              <a:spcAft>
                <a:spcPts val="1200"/>
              </a:spcAft>
              <a:defRPr sz="1800"/>
            </a:pPr>
            <a:r>
              <a:t>• Dependency Inversion</a:t>
            </a:r>
          </a:p>
          <a:p>
            <a:pPr lvl="1">
              <a:spcAft>
                <a:spcPts val="1200"/>
              </a:spcAft>
              <a:defRPr sz="1800"/>
            </a:pPr>
            <a:r>
              <a:t>Depend on abstractions (ComponentRegistry)</a:t>
            </a:r>
          </a:p>
          <a:p>
            <a:pPr>
              <a:spcAft>
                <a:spcPts val="1200"/>
              </a:spcAft>
              <a:defRPr sz="1800"/>
            </a:pPr>
            <a:r>
              <a:t>• Separation of Concerns</a:t>
            </a:r>
          </a:p>
          <a:p>
            <a:pPr lvl="1">
              <a:spcAft>
                <a:spcPts val="1200"/>
              </a:spcAft>
              <a:defRPr sz="1800"/>
            </a:pPr>
            <a:r>
              <a:t>UI, Business Logic, and Data layers separated</a:t>
            </a:r>
          </a:p>
          <a:p>
            <a:pPr>
              <a:spcAft>
                <a:spcPts val="1200"/>
              </a:spcAft>
              <a:defRPr sz="1800"/>
            </a:pPr>
            <a:r>
              <a:t>• DRY (Don't Repeat Yourself)</a:t>
            </a:r>
          </a:p>
          <a:p>
            <a:pPr lvl="1">
              <a:spcAft>
                <a:spcPts val="1200"/>
              </a:spcAft>
              <a:defRPr sz="1800"/>
            </a:pPr>
            <a:r>
              <a:t>Data-driven rendering eliminates code duplication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0066CC"/>
                </a:solidFill>
              </a:defRPr>
            </a:pPr>
            <a:r>
              <a:t>Design Patterns Implemented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t>• Singleton Pattern</a:t>
            </a:r>
          </a:p>
          <a:p>
            <a:pPr lvl="1">
              <a:spcAft>
                <a:spcPts val="1200"/>
              </a:spcAft>
              <a:defRPr sz="1800"/>
            </a:pPr>
            <a:r>
              <a:t>ComponentRegistry - single instance manages all types</a:t>
            </a:r>
          </a:p>
          <a:p>
            <a:pPr>
              <a:spcAft>
                <a:spcPts val="1200"/>
              </a:spcAft>
              <a:defRPr sz="1800"/>
            </a:pPr>
            <a:r>
              <a:t>• Registry Pattern</a:t>
            </a:r>
          </a:p>
          <a:p>
            <a:pPr lvl="1">
              <a:spcAft>
                <a:spcPts val="1200"/>
              </a:spcAft>
              <a:defRPr sz="1800"/>
            </a:pPr>
            <a:r>
              <a:t>JSON-based component type registration</a:t>
            </a:r>
          </a:p>
          <a:p>
            <a:pPr>
              <a:spcAft>
                <a:spcPts val="1200"/>
              </a:spcAft>
              <a:defRPr sz="1800"/>
            </a:pPr>
            <a:r>
              <a:t>• Observer Pattern</a:t>
            </a:r>
          </a:p>
          <a:p>
            <a:pPr lvl="1">
              <a:spcAft>
                <a:spcPts val="1200"/>
              </a:spcAft>
              <a:defRPr sz="1800"/>
            </a:pPr>
            <a:r>
              <a:t>MessageServer notifies components of health updates</a:t>
            </a:r>
          </a:p>
          <a:p>
            <a:pPr>
              <a:spcAft>
                <a:spcPts val="1200"/>
              </a:spcAft>
              <a:defRPr sz="1800"/>
            </a:pPr>
            <a:r>
              <a:t>• Factory Pattern</a:t>
            </a:r>
          </a:p>
          <a:p>
            <a:pPr lvl="1">
              <a:spcAft>
                <a:spcPts val="1200"/>
              </a:spcAft>
              <a:defRPr sz="1800"/>
            </a:pPr>
            <a:r>
              <a:t>Component creation based on registry definitions</a:t>
            </a:r>
          </a:p>
          <a:p>
            <a:pPr>
              <a:spcAft>
                <a:spcPts val="1200"/>
              </a:spcAft>
              <a:defRPr sz="1800"/>
            </a:pPr>
            <a:r>
              <a:t>• Model-View-Controller (MVC)</a:t>
            </a:r>
          </a:p>
          <a:p>
            <a:pPr lvl="1">
              <a:spcAft>
                <a:spcPts val="1200"/>
              </a:spcAft>
              <a:defRPr sz="1800"/>
            </a:pPr>
            <a:r>
              <a:t>Separation of data, presentation, and control logic</a:t>
            </a:r>
          </a:p>
          <a:p>
            <a:pPr>
              <a:spcAft>
                <a:spcPts val="1200"/>
              </a:spcAft>
              <a:defRPr sz="1800"/>
            </a:pPr>
            <a:r>
              <a:t>• Strategy Pattern</a:t>
            </a:r>
          </a:p>
          <a:p>
            <a:pPr lvl="1">
              <a:spcAft>
                <a:spcPts val="1200"/>
              </a:spcAft>
              <a:defRPr sz="1800"/>
            </a:pPr>
            <a:r>
              <a:t>Multi-protocol support (TCP, UDP, WebSocket, MQTT)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066CC"/>
                </a:solidFill>
              </a:defRPr>
            </a:pPr>
            <a:r>
              <a:t>Core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886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ComponentRegistry</a:t>
            </a:r>
          </a:p>
          <a:p>
            <a:pPr>
              <a:spcAft>
                <a:spcPts val="800"/>
              </a:spcAft>
              <a:defRPr sz="1400"/>
            </a:pPr>
            <a:r>
              <a:t>  - Singleton managing component types</a:t>
            </a:r>
          </a:p>
          <a:p>
            <a:pPr>
              <a:spcAft>
                <a:spcPts val="800"/>
              </a:spcAft>
              <a:defRPr sz="1400"/>
            </a:pPr>
            <a:r>
              <a:t>  - Loads from components.json</a:t>
            </a:r>
          </a:p>
          <a:p>
            <a:pPr>
              <a:spcAft>
                <a:spcPts val="800"/>
              </a:spcAft>
              <a:defRPr sz="1400"/>
            </a:pPr>
            <a:r>
              <a:t>  - Validates definitions</a:t>
            </a:r>
          </a:p>
          <a:p>
            <a:pPr>
              <a:spcAft>
                <a:spcPts val="800"/>
              </a:spcAft>
              <a:defRPr sz="1400"/>
            </a:pPr>
          </a:p>
          <a:p>
            <a:pPr>
              <a:spcAft>
                <a:spcPts val="800"/>
              </a:spcAft>
              <a:defRPr sz="1400"/>
            </a:pPr>
            <a:r>
              <a:t>• Component</a:t>
            </a:r>
          </a:p>
          <a:p>
            <a:pPr>
              <a:spcAft>
                <a:spcPts val="800"/>
              </a:spcAft>
              <a:defRPr sz="1400"/>
            </a:pPr>
            <a:r>
              <a:t>  - Graphics item for canvas</a:t>
            </a:r>
          </a:p>
          <a:p>
            <a:pPr>
              <a:spcAft>
                <a:spcPts val="800"/>
              </a:spcAft>
              <a:defRPr sz="1400"/>
            </a:pPr>
            <a:r>
              <a:t>  - Data-driven rendering</a:t>
            </a:r>
          </a:p>
          <a:p>
            <a:pPr>
              <a:spcAft>
                <a:spcPts val="800"/>
              </a:spcAft>
              <a:defRPr sz="1400"/>
            </a:pPr>
            <a:r>
              <a:t>  - Health status visualization</a:t>
            </a:r>
          </a:p>
          <a:p>
            <a:pPr>
              <a:spcAft>
                <a:spcPts val="800"/>
              </a:spcAft>
              <a:defRPr sz="1400"/>
            </a:pPr>
          </a:p>
          <a:p>
            <a:pPr>
              <a:spcAft>
                <a:spcPts val="800"/>
              </a:spcAft>
              <a:defRPr sz="1400"/>
            </a:pPr>
            <a:r>
              <a:t>• Canvas</a:t>
            </a:r>
          </a:p>
          <a:p>
            <a:pPr>
              <a:spcAft>
                <a:spcPts val="800"/>
              </a:spcAft>
              <a:defRPr sz="1400"/>
            </a:pPr>
            <a:r>
              <a:t>  - Designer drag-drop area</a:t>
            </a:r>
          </a:p>
          <a:p>
            <a:pPr>
              <a:spcAft>
                <a:spcPts val="800"/>
              </a:spcAft>
              <a:defRPr sz="1400"/>
            </a:pPr>
            <a:r>
              <a:t>  - Connection management</a:t>
            </a:r>
          </a:p>
          <a:p>
            <a:pPr>
              <a:spcAft>
                <a:spcPts val="800"/>
              </a:spcAft>
              <a:defRPr sz="1400"/>
            </a:pPr>
            <a:r>
              <a:t>  - Sub-component support</a:t>
            </a:r>
          </a:p>
          <a:p>
            <a:pPr>
              <a:spcAft>
                <a:spcPts val="800"/>
              </a:spcAft>
              <a:defRPr sz="1400"/>
            </a:pPr>
          </a:p>
          <a:p>
            <a:pPr>
              <a:spcAft>
                <a:spcPts val="800"/>
              </a:spcAft>
              <a:defRPr sz="1400"/>
            </a:pPr>
            <a:r>
              <a:t>• MessageServer</a:t>
            </a:r>
          </a:p>
          <a:p>
            <a:pPr>
              <a:spcAft>
                <a:spcPts val="800"/>
              </a:spcAft>
              <a:defRPr sz="1400"/>
            </a:pPr>
            <a:r>
              <a:t>  - Multi-protocol receiver</a:t>
            </a:r>
          </a:p>
          <a:p>
            <a:pPr>
              <a:spcAft>
                <a:spcPts val="800"/>
              </a:spcAft>
              <a:defRPr sz="1400"/>
            </a:pPr>
            <a:r>
              <a:t>  - TCP &amp; UDP listeners</a:t>
            </a:r>
          </a:p>
          <a:p>
            <a:pPr>
              <a:spcAft>
                <a:spcPts val="800"/>
              </a:spcAft>
              <a:defRPr sz="1400"/>
            </a:pPr>
            <a:r>
              <a:t>  - Health data dispatcher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00600" y="1371600"/>
            <a:ext cx="3886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MainWindow</a:t>
            </a:r>
          </a:p>
          <a:p>
            <a:pPr>
              <a:spcAft>
                <a:spcPts val="800"/>
              </a:spcAft>
              <a:defRPr sz="1400"/>
            </a:pPr>
            <a:r>
              <a:t>  - Central application window</a:t>
            </a:r>
          </a:p>
          <a:p>
            <a:pPr>
              <a:spcAft>
                <a:spcPts val="800"/>
              </a:spcAft>
              <a:defRPr sz="1400"/>
            </a:pPr>
            <a:r>
              <a:t>  - Mode switching (Designer/Runtime)</a:t>
            </a:r>
          </a:p>
          <a:p>
            <a:pPr>
              <a:spcAft>
                <a:spcPts val="800"/>
              </a:spcAft>
              <a:defRPr sz="1400"/>
            </a:pPr>
            <a:r>
              <a:t>  - Toolbar and menu management</a:t>
            </a:r>
          </a:p>
          <a:p>
            <a:pPr>
              <a:spcAft>
                <a:spcPts val="800"/>
              </a:spcAft>
              <a:defRPr sz="1400"/>
            </a:pPr>
          </a:p>
          <a:p>
            <a:pPr>
              <a:spcAft>
                <a:spcPts val="800"/>
              </a:spcAft>
              <a:defRPr sz="1400"/>
            </a:pPr>
            <a:r>
              <a:t>• AnalyticsDashboard</a:t>
            </a:r>
          </a:p>
          <a:p>
            <a:pPr>
              <a:spcAft>
                <a:spcPts val="800"/>
              </a:spcAft>
              <a:defRPr sz="1400"/>
            </a:pPr>
            <a:r>
              <a:t>  - 10 chart types</a:t>
            </a:r>
          </a:p>
          <a:p>
            <a:pPr>
              <a:spcAft>
                <a:spcPts val="800"/>
              </a:spcAft>
              <a:defRPr sz="1400"/>
            </a:pPr>
            <a:r>
              <a:t>  - 6 KPI metrics</a:t>
            </a:r>
          </a:p>
          <a:p>
            <a:pPr>
              <a:spcAft>
                <a:spcPts val="800"/>
              </a:spcAft>
              <a:defRPr sz="1400"/>
            </a:pPr>
            <a:r>
              <a:t>  - Real-time updates</a:t>
            </a:r>
          </a:p>
          <a:p>
            <a:pPr>
              <a:spcAft>
                <a:spcPts val="800"/>
              </a:spcAft>
              <a:defRPr sz="1400"/>
            </a:pPr>
          </a:p>
          <a:p>
            <a:pPr>
              <a:spcAft>
                <a:spcPts val="800"/>
              </a:spcAft>
              <a:defRPr sz="1400"/>
            </a:pPr>
            <a:r>
              <a:t>• LoginDialog</a:t>
            </a:r>
          </a:p>
          <a:p>
            <a:pPr>
              <a:spcAft>
                <a:spcPts val="800"/>
              </a:spcAft>
              <a:defRPr sz="1400"/>
            </a:pPr>
            <a:r>
              <a:t>  - Role-based authentication</a:t>
            </a:r>
          </a:p>
          <a:p>
            <a:pPr>
              <a:spcAft>
                <a:spcPts val="800"/>
              </a:spcAft>
              <a:defRPr sz="1400"/>
            </a:pPr>
            <a:r>
              <a:t>  - User: Designer / User</a:t>
            </a:r>
          </a:p>
          <a:p>
            <a:pPr>
              <a:spcAft>
                <a:spcPts val="800"/>
              </a:spcAft>
              <a:defRPr sz="1400"/>
            </a:pPr>
          </a:p>
          <a:p>
            <a:pPr>
              <a:spcAft>
                <a:spcPts val="800"/>
              </a:spcAft>
              <a:defRPr sz="1400"/>
            </a:pPr>
            <a:r>
              <a:t>• ThemeManager</a:t>
            </a:r>
          </a:p>
          <a:p>
            <a:pPr>
              <a:spcAft>
                <a:spcPts val="800"/>
              </a:spcAft>
              <a:defRPr sz="1400"/>
            </a:pPr>
            <a:r>
              <a:t>  - Dark/Light theme switching</a:t>
            </a:r>
          </a:p>
          <a:p>
            <a:pPr>
              <a:spcAft>
                <a:spcPts val="800"/>
              </a:spcAft>
              <a:defRPr sz="1400"/>
            </a:pPr>
            <a:r>
              <a:t>  - Persistent preferences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0066CC"/>
                </a:solidFill>
              </a:defRPr>
            </a:pPr>
            <a:r>
              <a:t>Implementation: Component Registry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t>• Singleton class managing component definitions</a:t>
            </a:r>
          </a:p>
          <a:p>
            <a:pPr>
              <a:spcAft>
                <a:spcPts val="1200"/>
              </a:spcAft>
              <a:defRPr sz="1800"/>
            </a:pPr>
            <a:r>
              <a:t>• Key methods:</a:t>
            </a:r>
          </a:p>
          <a:p>
            <a:pPr lvl="1">
              <a:spcAft>
                <a:spcPts val="1200"/>
              </a:spcAft>
              <a:defRPr sz="1800"/>
            </a:pPr>
            <a:r>
              <a:t>loadFromJson() - Parse components.json</a:t>
            </a:r>
          </a:p>
          <a:p>
            <a:pPr lvl="1">
              <a:spcAft>
                <a:spcPts val="1200"/>
              </a:spcAft>
              <a:defRPr sz="1800"/>
            </a:pPr>
            <a:r>
              <a:t>addComponentType() - Runtime type addition</a:t>
            </a:r>
          </a:p>
          <a:p>
            <a:pPr lvl="1">
              <a:spcAft>
                <a:spcPts val="1200"/>
              </a:spcAft>
              <a:defRPr sz="1800"/>
            </a:pPr>
            <a:r>
              <a:t>getDefinition() - Retrieve component info</a:t>
            </a:r>
          </a:p>
          <a:p>
            <a:pPr lvl="1">
              <a:spcAft>
                <a:spcPts val="1200"/>
              </a:spcAft>
              <a:defRPr sz="1800"/>
            </a:pPr>
            <a:r>
              <a:t>getAllTypes() - List all registered types</a:t>
            </a:r>
          </a:p>
          <a:p>
            <a:pPr>
              <a:spcAft>
                <a:spcPts val="1200"/>
              </a:spcAft>
              <a:defRPr sz="1800"/>
            </a:pPr>
            <a:r>
              <a:t>• ComponentDefinition structure:</a:t>
            </a:r>
          </a:p>
          <a:p>
            <a:pPr lvl="1">
              <a:spcAft>
                <a:spcPts val="1200"/>
              </a:spcAft>
              <a:defRPr sz="1800"/>
            </a:pPr>
            <a:r>
              <a:t>type_id, display_name, label, description</a:t>
            </a:r>
          </a:p>
          <a:p>
            <a:pPr lvl="1">
              <a:spcAft>
                <a:spcPts val="1200"/>
              </a:spcAft>
              <a:defRPr sz="1800"/>
            </a:pPr>
            <a:r>
              <a:t>image_dir, icon_color, shape</a:t>
            </a:r>
          </a:p>
          <a:p>
            <a:pPr lvl="1">
              <a:spcAft>
                <a:spcPts val="1200"/>
              </a:spcAft>
              <a:defRPr sz="1800"/>
            </a:pPr>
            <a:r>
              <a:t>subsystems[], protocol, port, category</a:t>
            </a:r>
          </a:p>
          <a:p>
            <a:pPr>
              <a:spcAft>
                <a:spcPts val="1200"/>
              </a:spcAft>
              <a:defRPr sz="1800"/>
            </a:pPr>
            <a:r>
              <a:t>• Benefits:</a:t>
            </a:r>
          </a:p>
          <a:p>
            <a:pPr lvl="1">
              <a:spcAft>
                <a:spcPts val="1200"/>
              </a:spcAft>
              <a:defRPr sz="1800"/>
            </a:pPr>
            <a:r>
              <a:t>Zero code changes for new component types</a:t>
            </a:r>
          </a:p>
          <a:p>
            <a:pPr lvl="1">
              <a:spcAft>
                <a:spcPts val="1200"/>
              </a:spcAft>
              <a:defRPr sz="1800"/>
            </a:pPr>
            <a:r>
              <a:t>Backward compatibility with existing designs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0066CC"/>
                </a:solidFill>
              </a:defRPr>
            </a:pPr>
            <a:r>
              <a:t>Implementation: Message Server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t>• Multi-protocol health data receiver</a:t>
            </a:r>
          </a:p>
          <a:p>
            <a:pPr>
              <a:spcAft>
                <a:spcPts val="1200"/>
              </a:spcAft>
              <a:defRPr sz="1800"/>
            </a:pPr>
            <a:r>
              <a:t>• Protocols supported:</a:t>
            </a:r>
          </a:p>
          <a:p>
            <a:pPr lvl="1">
              <a:spcAft>
                <a:spcPts val="1200"/>
              </a:spcAft>
              <a:defRPr sz="1800"/>
            </a:pPr>
            <a:r>
              <a:t>TCP - Port 12345 (reliable, line-delimited JSON)</a:t>
            </a:r>
          </a:p>
          <a:p>
            <a:pPr lvl="1">
              <a:spcAft>
                <a:spcPts val="1200"/>
              </a:spcAft>
              <a:defRPr sz="1800"/>
            </a:pPr>
            <a:r>
              <a:t>UDP - Port 12346 (low-latency, datagram JSON)</a:t>
            </a:r>
          </a:p>
          <a:p>
            <a:pPr>
              <a:spcAft>
                <a:spcPts val="1200"/>
              </a:spcAft>
              <a:defRPr sz="1800"/>
            </a:pPr>
            <a:r>
              <a:t>• Message format:</a:t>
            </a:r>
          </a:p>
          <a:p>
            <a:pPr lvl="1">
              <a:spcAft>
                <a:spcPts val="1200"/>
              </a:spcAft>
              <a:defRPr sz="1800"/>
            </a:pPr>
            <a:r>
              <a:t>{ "component_id": "comp_1", "color": "#00FF00", "size": 95.5 }</a:t>
            </a:r>
          </a:p>
          <a:p>
            <a:pPr>
              <a:spcAft>
                <a:spcPts val="1200"/>
              </a:spcAft>
              <a:defRPr sz="1800"/>
            </a:pPr>
            <a:r>
              <a:t>• Processing flow:</a:t>
            </a:r>
          </a:p>
          <a:p>
            <a:pPr lvl="1">
              <a:spcAft>
                <a:spcPts val="1200"/>
              </a:spcAft>
              <a:defRPr sz="1800"/>
            </a:pPr>
            <a:r>
              <a:t>1. Receive JSON message</a:t>
            </a:r>
          </a:p>
          <a:p>
            <a:pPr lvl="1">
              <a:spcAft>
                <a:spcPts val="1200"/>
              </a:spcAft>
              <a:defRPr sz="1800"/>
            </a:pPr>
            <a:r>
              <a:t>2. Parse and validate</a:t>
            </a:r>
          </a:p>
          <a:p>
            <a:pPr lvl="1">
              <a:spcAft>
                <a:spcPts val="1200"/>
              </a:spcAft>
              <a:defRPr sz="1800"/>
            </a:pPr>
            <a:r>
              <a:t>3. Find component on canvas</a:t>
            </a:r>
          </a:p>
          <a:p>
            <a:pPr lvl="1">
              <a:spcAft>
                <a:spcPts val="1200"/>
              </a:spcAft>
              <a:defRPr sz="1800"/>
            </a:pPr>
            <a:r>
              <a:t>4. Update visual indicators</a:t>
            </a:r>
          </a:p>
          <a:p>
            <a:pPr lvl="1">
              <a:spcAft>
                <a:spcPts val="1200"/>
              </a:spcAft>
              <a:defRPr sz="1800"/>
            </a:pPr>
            <a:r>
              <a:t>5. Trigger analytics update</a:t>
            </a:r>
          </a:p>
          <a:p>
            <a:pPr>
              <a:spcAft>
                <a:spcPts val="1200"/>
              </a:spcAft>
              <a:defRPr sz="1800"/>
            </a:pPr>
            <a:r>
              <a:t>• Multi-client support with concurrent connections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0066CC"/>
                </a:solidFill>
              </a:defRPr>
            </a:pPr>
            <a:r>
              <a:t>Key Features: Designer Mode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t>• Visual component placement</a:t>
            </a:r>
          </a:p>
          <a:p>
            <a:pPr lvl="1">
              <a:spcAft>
                <a:spcPts val="1200"/>
              </a:spcAft>
              <a:defRPr sz="1800"/>
            </a:pPr>
            <a:r>
              <a:t>Drag-and-drop from component panel</a:t>
            </a:r>
          </a:p>
          <a:p>
            <a:pPr lvl="1">
              <a:spcAft>
                <a:spcPts val="1200"/>
              </a:spcAft>
              <a:defRPr sz="1800"/>
            </a:pPr>
            <a:r>
              <a:t>Component resizing and positioning</a:t>
            </a:r>
          </a:p>
          <a:p>
            <a:pPr>
              <a:spcAft>
                <a:spcPts val="1200"/>
              </a:spcAft>
              <a:defRPr sz="1800"/>
            </a:pPr>
            <a:r>
              <a:t>• Connection drawing</a:t>
            </a:r>
          </a:p>
          <a:p>
            <a:pPr lvl="1">
              <a:spcAft>
                <a:spcPts val="1200"/>
              </a:spcAft>
              <a:defRPr sz="1800"/>
            </a:pPr>
            <a:r>
              <a:t>Uni-directional and bi-directional connections</a:t>
            </a:r>
          </a:p>
          <a:p>
            <a:pPr lvl="1">
              <a:spcAft>
                <a:spcPts val="1200"/>
              </a:spcAft>
              <a:defRPr sz="1800"/>
            </a:pPr>
            <a:r>
              <a:t>Custom labels and colors</a:t>
            </a:r>
          </a:p>
          <a:p>
            <a:pPr>
              <a:spcAft>
                <a:spcPts val="1200"/>
              </a:spcAft>
              <a:defRPr sz="1800"/>
            </a:pPr>
            <a:r>
              <a:t>• Sub-component support</a:t>
            </a:r>
          </a:p>
          <a:p>
            <a:pPr lvl="1">
              <a:spcAft>
                <a:spcPts val="1200"/>
              </a:spcAft>
              <a:defRPr sz="1800"/>
            </a:pPr>
            <a:r>
              <a:t>Labels, LineEdits, Buttons inside components</a:t>
            </a:r>
          </a:p>
          <a:p>
            <a:pPr lvl="1">
              <a:spcAft>
                <a:spcPts val="1200"/>
              </a:spcAft>
              <a:defRPr sz="1800"/>
            </a:pPr>
            <a:r>
              <a:t>Drag-drop with auto-containment</a:t>
            </a:r>
          </a:p>
          <a:p>
            <a:pPr>
              <a:spcAft>
                <a:spcPts val="1200"/>
              </a:spcAft>
              <a:defRPr sz="1800"/>
            </a:pPr>
            <a:r>
              <a:t>• Add component types at runtime</a:t>
            </a:r>
          </a:p>
          <a:p>
            <a:pPr lvl="1">
              <a:spcAft>
                <a:spcPts val="1200"/>
              </a:spcAft>
              <a:defRPr sz="1800"/>
            </a:pPr>
            <a:r>
              <a:t>"+ Add Component Type" button</a:t>
            </a:r>
          </a:p>
          <a:p>
            <a:pPr lvl="1">
              <a:spcAft>
                <a:spcPts val="1200"/>
              </a:spcAft>
              <a:defRPr sz="1800"/>
            </a:pPr>
            <a:r>
              <a:t>No code changes required</a:t>
            </a:r>
          </a:p>
          <a:p>
            <a:pPr>
              <a:spcAft>
                <a:spcPts val="1200"/>
              </a:spcAft>
              <a:defRPr sz="1800"/>
            </a:pPr>
            <a:r>
              <a:t>• Save/Load design files (.design format)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0066CC"/>
                </a:solidFill>
              </a:defRPr>
            </a:pPr>
            <a:r>
              <a:t>Key Features: Runtime Mode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t>• Real-time health monitoring</a:t>
            </a:r>
          </a:p>
          <a:p>
            <a:pPr lvl="1">
              <a:spcAft>
                <a:spcPts val="1200"/>
              </a:spcAft>
              <a:defRPr sz="1800"/>
            </a:pPr>
            <a:r>
              <a:t>Color-coded status indicators</a:t>
            </a:r>
          </a:p>
          <a:p>
            <a:pPr lvl="1">
              <a:spcAft>
                <a:spcPts val="1200"/>
              </a:spcAft>
              <a:defRPr sz="1800"/>
            </a:pPr>
            <a:r>
              <a:t>Green (90-100%) → Yellow (70-89%) → Orange (40-69%)</a:t>
            </a:r>
          </a:p>
          <a:p>
            <a:pPr lvl="1">
              <a:spcAft>
                <a:spcPts val="1200"/>
              </a:spcAft>
              <a:defRPr sz="1800"/>
            </a:pPr>
            <a:r>
              <a:t>Red (10-39%) → Gray (0-9% offline)</a:t>
            </a:r>
          </a:p>
          <a:p>
            <a:pPr>
              <a:spcAft>
                <a:spcPts val="1200"/>
              </a:spcAft>
              <a:defRPr sz="1800"/>
            </a:pPr>
            <a:r>
              <a:t>• Voice alerts for critical states</a:t>
            </a:r>
          </a:p>
          <a:p>
            <a:pPr>
              <a:spcAft>
                <a:spcPts val="1200"/>
              </a:spcAft>
              <a:defRPr sz="1800"/>
            </a:pPr>
            <a:r>
              <a:t>• Enlarged component views</a:t>
            </a:r>
          </a:p>
          <a:p>
            <a:pPr lvl="1">
              <a:spcAft>
                <a:spcPts val="1200"/>
              </a:spcAft>
              <a:defRPr sz="1800"/>
            </a:pPr>
            <a:r>
              <a:t>Health trend charts</a:t>
            </a:r>
          </a:p>
          <a:p>
            <a:pPr lvl="1">
              <a:spcAft>
                <a:spcPts val="1200"/>
              </a:spcAft>
              <a:defRPr sz="1800"/>
            </a:pPr>
            <a:r>
              <a:t>Subsystem details</a:t>
            </a:r>
          </a:p>
          <a:p>
            <a:pPr>
              <a:spcAft>
                <a:spcPts val="1200"/>
              </a:spcAft>
              <a:defRPr sz="1800"/>
            </a:pPr>
            <a:r>
              <a:t>• Analytics tracking</a:t>
            </a:r>
          </a:p>
          <a:p>
            <a:pPr lvl="1">
              <a:spcAft>
                <a:spcPts val="1200"/>
              </a:spcAft>
              <a:defRPr sz="1800"/>
            </a:pPr>
            <a:r>
              <a:t>Health updates count</a:t>
            </a:r>
          </a:p>
          <a:p>
            <a:pPr lvl="1">
              <a:spcAft>
                <a:spcPts val="1200"/>
              </a:spcAft>
              <a:defRPr sz="1800"/>
            </a:pPr>
            <a:r>
              <a:t>Status changes</a:t>
            </a:r>
          </a:p>
          <a:p>
            <a:pPr lvl="1">
              <a:spcAft>
                <a:spcPts val="1200"/>
              </a:spcAft>
              <a:defRPr sz="1800"/>
            </a:pPr>
            <a:r>
              <a:t>Health level transitions</a:t>
            </a:r>
          </a:p>
          <a:p>
            <a:pPr>
              <a:spcAft>
                <a:spcPts val="1200"/>
              </a:spcAft>
              <a:defRPr sz="1800"/>
            </a:pPr>
            <a:r>
              <a:t>• Multi-protocol message reception (TCP &amp; UDP)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0066CC"/>
                </a:solidFill>
              </a:defRPr>
            </a:pPr>
            <a:r>
              <a:t>Key Features: Analytics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t>• 10 different chart types:</a:t>
            </a:r>
          </a:p>
          <a:p>
            <a:pPr lvl="1">
              <a:spcAft>
                <a:spcPts val="1200"/>
              </a:spcAft>
              <a:defRPr sz="1800"/>
            </a:pPr>
            <a:r>
              <a:t>1. Health Trend (Multi-line Spline)</a:t>
            </a:r>
          </a:p>
          <a:p>
            <a:pPr lvl="1">
              <a:spcAft>
                <a:spcPts val="1200"/>
              </a:spcAft>
              <a:defRPr sz="1800"/>
            </a:pPr>
            <a:r>
              <a:t>2. Component Distribution (Donut Pie)</a:t>
            </a:r>
          </a:p>
          <a:p>
            <a:pPr lvl="1">
              <a:spcAft>
                <a:spcPts val="1200"/>
              </a:spcAft>
              <a:defRPr sz="1800"/>
            </a:pPr>
            <a:r>
              <a:t>3. Subsystem Performance (Vertical Bar)</a:t>
            </a:r>
          </a:p>
          <a:p>
            <a:pPr lvl="1">
              <a:spcAft>
                <a:spcPts val="1200"/>
              </a:spcAft>
              <a:defRPr sz="1800"/>
            </a:pPr>
            <a:r>
              <a:t>4. Health Distribution (Stacked Area)</a:t>
            </a:r>
          </a:p>
          <a:p>
            <a:pPr lvl="1">
              <a:spcAft>
                <a:spcPts val="1200"/>
              </a:spcAft>
              <a:defRPr sz="1800"/>
            </a:pPr>
            <a:r>
              <a:t>5. Message Frequency (Scatter)</a:t>
            </a:r>
          </a:p>
          <a:p>
            <a:pPr lvl="1">
              <a:spcAft>
                <a:spcPts val="1200"/>
              </a:spcAft>
              <a:defRPr sz="1800"/>
            </a:pPr>
            <a:r>
              <a:t>6. Telemetry Streams (Multi-line)</a:t>
            </a:r>
          </a:p>
          <a:p>
            <a:pPr lvl="1">
              <a:spcAft>
                <a:spcPts val="1200"/>
              </a:spcAft>
              <a:defRPr sz="1800"/>
            </a:pPr>
            <a:r>
              <a:t>7. Alert History (Grouped Bar)</a:t>
            </a:r>
          </a:p>
          <a:p>
            <a:pPr lvl="1">
              <a:spcAft>
                <a:spcPts val="1200"/>
              </a:spcAft>
              <a:defRPr sz="1800"/>
            </a:pPr>
            <a:r>
              <a:t>8. Component Comparison (Horizontal Bar)</a:t>
            </a:r>
          </a:p>
          <a:p>
            <a:pPr lvl="1">
              <a:spcAft>
                <a:spcPts val="1200"/>
              </a:spcAft>
              <a:defRPr sz="1800"/>
            </a:pPr>
            <a:r>
              <a:t>9. System Efficiency (Gradient Area)</a:t>
            </a:r>
          </a:p>
          <a:p>
            <a:pPr lvl="1">
              <a:spcAft>
                <a:spcPts val="1200"/>
              </a:spcAft>
              <a:defRPr sz="1800"/>
            </a:pPr>
            <a:r>
              <a:t>10. Uptime Analysis (Stacked Bar)</a:t>
            </a:r>
          </a:p>
          <a:p>
            <a:pPr>
              <a:spcAft>
                <a:spcPts val="1200"/>
              </a:spcAft>
              <a:defRPr sz="1800"/>
            </a:pPr>
            <a:r>
              <a:t>• 6 KPI cards: Total/Active Components, Avg Health, Alerts, Efficiency, Uptime</a:t>
            </a:r>
          </a:p>
          <a:p>
            <a:pPr>
              <a:spcAft>
                <a:spcPts val="1200"/>
              </a:spcAft>
              <a:defRPr sz="1800"/>
            </a:pPr>
            <a:r>
              <a:t>• Auto-refresh every 5 seconds</a:t>
            </a:r>
          </a:p>
          <a:p>
            <a:pPr>
              <a:spcAft>
                <a:spcPts val="1200"/>
              </a:spcAft>
              <a:defRPr sz="1800"/>
            </a:pPr>
            <a:r>
              <a:t>• Dark/Light theme support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3200">
                <a:solidFill>
                  <a:srgbClr val="0066CC"/>
                </a:solidFill>
              </a:defRPr>
            </a:pPr>
            <a:r>
              <a:t>Block Diagram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4572000"/>
          </a:xfrm>
          <a:prstGeom prst="roundRect">
            <a:avLst/>
          </a:prstGeom>
          <a:solidFill>
            <a:srgbClr val="F0F8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latin typeface="Courier New"/>
              </a:defRPr>
            </a:pPr>
            <a:br/>
            <a:r>
              <a:t>┌──────────────────────────────────────────────────────────────┐</a:t>
            </a:r>
            <a:br/>
            <a:r>
              <a:t>│                      USER INTERFACE LAYER                     │</a:t>
            </a:r>
            <a:br/>
            <a:r>
              <a:t>├────────────────┬─────────────────┬───────────────────────────┤</a:t>
            </a:r>
            <a:br/>
            <a:r>
              <a:t>│   Login Dialog │  Main Window    │  Analytics Dashboard      │</a:t>
            </a:r>
            <a:br/>
            <a:r>
              <a:t>│   ┌─────────┐  │  ┌───────────┐  │  ┌──────────────────┐    │</a:t>
            </a:r>
            <a:br/>
            <a:r>
              <a:t>│   │Designer │  │  │ Toolbar   │  │  │ 10 Chart Types   │    │</a:t>
            </a:r>
            <a:br/>
            <a:r>
              <a:t>│   │  User   │  │  │ Canvas    │  │  │ 6 KPI Cards      │    │</a:t>
            </a:r>
            <a:br/>
            <a:r>
              <a:t>│   └─────────┘  │  │ Component │  │  │ Controls         │    │</a:t>
            </a:r>
            <a:br/>
            <a:r>
              <a:t>│                │  │ Panel     │  │  └──────────────────┘    │</a:t>
            </a:r>
            <a:br/>
            <a:r>
              <a:t>│                │  └───────────┘  │                           │</a:t>
            </a:r>
            <a:br/>
            <a:r>
              <a:t>└────────────────┴─────────────────┴───────────────────────────┘</a:t>
            </a:r>
            <a:br/>
            <a:r>
              <a:t>                           │</a:t>
            </a:r>
            <a:br/>
            <a:r>
              <a:t>┌──────────────────────────┴───────────────────────────────────┐</a:t>
            </a:r>
            <a:br/>
            <a:r>
              <a:t>│                     BUSINESS LOGIC LAYER                      │</a:t>
            </a:r>
            <a:br/>
            <a:r>
              <a:t>├─────────────────────┬──────────────────┬─────────────────────┤</a:t>
            </a:r>
            <a:br/>
            <a:r>
              <a:t>│ Component Registry  │  Message Server  │  Analytics Engine   │</a:t>
            </a:r>
            <a:br/>
            <a:r>
              <a:t>│ ┌─────────────────┐ │ ┌──────────────┐ │ ┌─────────────────┐ │</a:t>
            </a:r>
            <a:br/>
            <a:r>
              <a:t>│ │ Load JSON       │ │ │ TCP Listener │ │ │ Health Tracking │ │</a:t>
            </a:r>
            <a:br/>
            <a:r>
              <a:t>│ │ Validate Types  │ │ │ UDP Listener │ │ │ KPI Calculation │ │</a:t>
            </a:r>
            <a:br/>
            <a:r>
              <a:t>│ │ Type Management │ │ │ JSON Parser  │ │ │ Chart Data Gen  │ │</a:t>
            </a:r>
            <a:br/>
            <a:r>
              <a:t>│ └─────────────────┘ │ └──────────────┘ │ └─────────────────┘ │</a:t>
            </a:r>
            <a:br/>
            <a:r>
              <a:t>├─────────────────────┴──────────────────┴─────────────────────┤</a:t>
            </a:r>
            <a:br/>
            <a:r>
              <a:t>│        Canvas Manager    │    Theme Manager    │ Voice Alerts │</a:t>
            </a:r>
            <a:br/>
            <a:r>
              <a:t>└──────────────────────────┴─────────────────────┴──────────────┘</a:t>
            </a:r>
            <a:br/>
            <a:r>
              <a:t>                           │</a:t>
            </a:r>
            <a:br/>
            <a:r>
              <a:t>┌──────────────────────────┴───────────────────────────────────┐</a:t>
            </a:r>
            <a:br/>
            <a:r>
              <a:t>│                        DATA LAYER                             │</a:t>
            </a:r>
            <a:br/>
            <a:r>
              <a:t>├───────────────────┬──────────────────┬───────────────────────┤</a:t>
            </a:r>
            <a:br/>
            <a:r>
              <a:t>│ components.json   │  Design Files    │  Health Data Streams  │</a:t>
            </a:r>
            <a:br/>
            <a:r>
              <a:t>│ ┌───────────────┐ │ ┌──────────────┐ │ ┌───────────────────┐ │</a:t>
            </a:r>
            <a:br/>
            <a:r>
              <a:t>│ │ Component     │ │ │ .design      │ │ │ Real-time JSON    │ │</a:t>
            </a:r>
            <a:br/>
            <a:r>
              <a:t>│ │ Definitions   │ │ │ Format       │ │ │ TCP/UDP Messages  │ │</a:t>
            </a:r>
            <a:br/>
            <a:r>
              <a:t>│ └───────────────┘ │ └──────────────┘ │ └───────────────────┘ │</a:t>
            </a:r>
            <a:br/>
            <a:r>
              <a:t>└───────────────────┴──────────────────┴───────────────────────┘</a:t>
            </a:r>
            <a:br/>
            <a:r>
              <a:t>                           │</a:t>
            </a:r>
            <a:br/>
            <a:r>
              <a:t>┌──────────────────────────┴───────────────────────────────────┐</a:t>
            </a:r>
            <a:br/>
            <a:r>
              <a:t>│                    EXTERNAL SYSTEMS                           │</a:t>
            </a:r>
            <a:br/>
            <a:r>
              <a:t>│  ┌──────────────┐  ┌──────────────┐  ┌──────────────┐       │</a:t>
            </a:r>
            <a:br/>
            <a:r>
              <a:t>│  │  Python      │  │  Python      │  │  Python      │       │</a:t>
            </a:r>
            <a:br/>
            <a:r>
              <a:t>│  │  Simulator 1 │  │  Simulator 2 │  │  Simulator N │       │</a:t>
            </a:r>
            <a:br/>
            <a:r>
              <a:t>│  └──────────────┘  └──────────────┘  └──────────────┘       │</a:t>
            </a:r>
            <a:br/>
            <a:r>
              <a:t>└──────────────────────────────────────────────────────────────┘</a:t>
            </a:r>
            <a:b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3200">
                <a:solidFill>
                  <a:srgbClr val="0066CC"/>
                </a:solidFill>
              </a:defRPr>
            </a:pPr>
            <a:r>
              <a:t>UML Class Diagram - Core Classes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4572000"/>
          </a:xfrm>
          <a:prstGeom prst="roundRect">
            <a:avLst/>
          </a:prstGeom>
          <a:solidFill>
            <a:srgbClr val="F0F8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latin typeface="Courier New"/>
              </a:defRPr>
            </a:pPr>
            <a:br/>
            <a:r>
              <a:t>┌─────────────────────────────┐</a:t>
            </a:r>
            <a:br/>
            <a:r>
              <a:t>│   ComponentRegistry         │ &lt;&lt;Singleton&gt;&gt;</a:t>
            </a:r>
            <a:br/>
            <a:r>
              <a:t>├─────────────────────────────┤</a:t>
            </a:r>
            <a:br/>
            <a:r>
              <a:t>│ - instance: static          │</a:t>
            </a:r>
            <a:br/>
            <a:r>
              <a:t>│ - components: QVector       │</a:t>
            </a:r>
            <a:br/>
            <a:r>
              <a:t>│ - componentsFile: QString   │</a:t>
            </a:r>
            <a:br/>
            <a:r>
              <a:t>├─────────────────────────────┤</a:t>
            </a:r>
            <a:br/>
            <a:r>
              <a:t>│ + getInstance(): static     │</a:t>
            </a:r>
            <a:br/>
            <a:r>
              <a:t>│ + loadFromJson(): bool      │</a:t>
            </a:r>
            <a:br/>
            <a:r>
              <a:t>│ + addComponentType()        │</a:t>
            </a:r>
            <a:br/>
            <a:r>
              <a:t>│ + getDefinition(): Def      │</a:t>
            </a:r>
            <a:br/>
            <a:r>
              <a:t>│ + getAllTypes(): QStringList│</a:t>
            </a:r>
            <a:br/>
            <a:r>
              <a:t>└──────────┬──────────────────┘</a:t>
            </a:r>
            <a:br/>
            <a:r>
              <a:t>           │ manages</a:t>
            </a:r>
            <a:br/>
            <a:r>
              <a:t>           ▼</a:t>
            </a:r>
            <a:br/>
            <a:r>
              <a:t>┌─────────────────────────────┐</a:t>
            </a:r>
            <a:br/>
            <a:r>
              <a:t>│  ComponentDefinition        │ &lt;&lt;Struct&gt;&gt;</a:t>
            </a:r>
            <a:br/>
            <a:r>
              <a:t>├─────────────────────────────┤</a:t>
            </a:r>
            <a:br/>
            <a:r>
              <a:t>│ + type_id: QString          │</a:t>
            </a:r>
            <a:br/>
            <a:r>
              <a:t>│ + display_name: QString     │</a:t>
            </a:r>
            <a:br/>
            <a:r>
              <a:t>│ + label: QString            │</a:t>
            </a:r>
            <a:br/>
            <a:r>
              <a:t>│ + description: QString      │</a:t>
            </a:r>
            <a:br/>
            <a:r>
              <a:t>│ + image_dir: QString        │</a:t>
            </a:r>
            <a:br/>
            <a:r>
              <a:t>│ + icon_color: QString       │</a:t>
            </a:r>
            <a:br/>
            <a:r>
              <a:t>│ + subsystems: QStringList   │</a:t>
            </a:r>
            <a:br/>
            <a:r>
              <a:t>│ + protocol: QString         │</a:t>
            </a:r>
            <a:br/>
            <a:r>
              <a:t>│ + port: int                 │</a:t>
            </a:r>
            <a:br/>
            <a:r>
              <a:t>│ + category: QString         │</a:t>
            </a:r>
            <a:br/>
            <a:r>
              <a:t>│ + shape: QString            │</a:t>
            </a:r>
            <a:br/>
            <a:r>
              <a:t>└─────────────────────────────┘</a:t>
            </a:r>
            <a:br/>
            <a:br/>
            <a:r>
              <a:t>┌─────────────────────────────┐        ┌──────────────────────┐</a:t>
            </a:r>
            <a:br/>
            <a:r>
              <a:t>│      MainWindow             │        │     Canvas           │</a:t>
            </a:r>
            <a:br/>
            <a:r>
              <a:t>├─────────────────────────────┤        ├──────────────────────┤</a:t>
            </a:r>
            <a:br/>
            <a:r>
              <a:t>│ - canvas: Canvas*           │◆──────│ - components: QList  │</a:t>
            </a:r>
            <a:br/>
            <a:r>
              <a:t>│ - dashboard: Analytics*     │        │ - connections: QList │</a:t>
            </a:r>
            <a:br/>
            <a:r>
              <a:t>│ - messageServer: Server*    │        ├──────────────────────┤</a:t>
            </a:r>
            <a:br/>
            <a:r>
              <a:t>│ - currentRole: UserRole     │        │ + addComponent()     │</a:t>
            </a:r>
            <a:br/>
            <a:r>
              <a:t>├─────────────────────────────┤        │ + drawConnection()   │</a:t>
            </a:r>
            <a:br/>
            <a:r>
              <a:t>│ + showAnalyticsDashboard()  │        │ + saveToFile()       │</a:t>
            </a:r>
            <a:br/>
            <a:r>
              <a:t>│ + toggleTheme()             │        │ + loadFromFile()     │</a:t>
            </a:r>
            <a:br/>
            <a:r>
              <a:t>│ + switchMode()              │        └──────────────────────┘</a:t>
            </a:r>
            <a:br/>
            <a:r>
              <a:t>└─────────────────────────────┘</a:t>
            </a:r>
            <a:b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3200">
                <a:solidFill>
                  <a:srgbClr val="0066CC"/>
                </a:solidFill>
              </a:defRPr>
            </a:pPr>
            <a:r>
              <a:t>UML Class Diagram - Component Hierarchy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4572000"/>
          </a:xfrm>
          <a:prstGeom prst="roundRect">
            <a:avLst/>
          </a:prstGeom>
          <a:solidFill>
            <a:srgbClr val="F0F8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latin typeface="Courier New"/>
              </a:defRPr>
            </a:pPr>
            <a:br/>
            <a:r>
              <a:t>┌──────────────────────────┐</a:t>
            </a:r>
            <a:br/>
            <a:r>
              <a:t>│   QGraphicsItem          │ &lt;&lt;Qt&gt;&gt;</a:t>
            </a:r>
            <a:br/>
            <a:r>
              <a:t>└────────────┬─────────────┘</a:t>
            </a:r>
            <a:br/>
            <a:r>
              <a:t>             │ inherits</a:t>
            </a:r>
            <a:br/>
            <a:r>
              <a:t>             ▼</a:t>
            </a:r>
            <a:br/>
            <a:r>
              <a:t>┌──────────────────────────┐</a:t>
            </a:r>
            <a:br/>
            <a:r>
              <a:t>│      Component           │</a:t>
            </a:r>
            <a:br/>
            <a:r>
              <a:t>├──────────────────────────┤</a:t>
            </a:r>
            <a:br/>
            <a:r>
              <a:t>│ - id: QString            │</a:t>
            </a:r>
            <a:br/>
            <a:r>
              <a:t>│ - type: QString          │</a:t>
            </a:r>
            <a:br/>
            <a:r>
              <a:t>│ - color: QColor          │</a:t>
            </a:r>
            <a:br/>
            <a:r>
              <a:t>│ - size: double           │</a:t>
            </a:r>
            <a:br/>
            <a:r>
              <a:t>│ - subcomponents: QList   │</a:t>
            </a:r>
            <a:br/>
            <a:r>
              <a:t>├──────────────────────────┤</a:t>
            </a:r>
            <a:br/>
            <a:r>
              <a:t>│ + updateHealth(data)     │</a:t>
            </a:r>
            <a:br/>
            <a:r>
              <a:t>│ + paint()                │</a:t>
            </a:r>
            <a:br/>
            <a:r>
              <a:t>│ + boundingRect()         │</a:t>
            </a:r>
            <a:br/>
            <a:r>
              <a:t>│ + mousePressEvent()      │</a:t>
            </a:r>
            <a:br/>
            <a:r>
              <a:t>└────────┬─────────────────┘</a:t>
            </a:r>
            <a:br/>
            <a:r>
              <a:t>         │ contains</a:t>
            </a:r>
            <a:br/>
            <a:r>
              <a:t>         ▼</a:t>
            </a:r>
            <a:br/>
            <a:r>
              <a:t>┌──────────────────────────┐</a:t>
            </a:r>
            <a:br/>
            <a:r>
              <a:t>│     SubComponent         │</a:t>
            </a:r>
            <a:br/>
            <a:r>
              <a:t>├──────────────────────────┤</a:t>
            </a:r>
            <a:br/>
            <a:r>
              <a:t>│ - name: QString          │</a:t>
            </a:r>
            <a:br/>
            <a:r>
              <a:t>│ - health: double         │</a:t>
            </a:r>
            <a:br/>
            <a:r>
              <a:t>│ - status: QString        │</a:t>
            </a:r>
            <a:br/>
            <a:r>
              <a:t>├──────────────────────────┤</a:t>
            </a:r>
            <a:br/>
            <a:r>
              <a:t>│ + updateStatus()         │</a:t>
            </a:r>
            <a:br/>
            <a:r>
              <a:t>│ + getHealth(): double    │</a:t>
            </a:r>
            <a:br/>
            <a:r>
              <a:t>└──────────────────────────┘</a:t>
            </a:r>
            <a:br/>
            <a:br/>
            <a:r>
              <a:t>┌──────────────────────────┐        ┌──────────────────────┐</a:t>
            </a:r>
            <a:br/>
            <a:r>
              <a:t>│   MessageServer          │        │  AnalyticsDashboard  │</a:t>
            </a:r>
            <a:br/>
            <a:r>
              <a:t>├──────────────────────────┤        ├──────────────────────┤</a:t>
            </a:r>
            <a:br/>
            <a:r>
              <a:t>│ - tcpServer: QTcpServer* │        │ - charts: QChartView*│</a:t>
            </a:r>
            <a:br/>
            <a:r>
              <a:t>│ - udpSocket: QUdpSocket* │        │ - kpiLabels: QLabel* │</a:t>
            </a:r>
            <a:br/>
            <a:r>
              <a:t>│ - connections: QList     │        │ - healthData: QVector│</a:t>
            </a:r>
            <a:br/>
            <a:r>
              <a:t>├──────────────────────────┤        ├──────────────────────┤</a:t>
            </a:r>
            <a:br/>
            <a:r>
              <a:t>│ + startServer()          │        │ + updateCharts()     │</a:t>
            </a:r>
            <a:br/>
            <a:r>
              <a:t>│ + onTcpMessage()         │        │ + createHealthTrend()│</a:t>
            </a:r>
            <a:br/>
            <a:r>
              <a:t>│ + onUdpMessage()         │        │ + createPieChart()   │</a:t>
            </a:r>
            <a:br/>
            <a:r>
              <a:t>│ + processHealthData()    │        │ + calculateKPIs()    │</a:t>
            </a:r>
            <a:br/>
            <a:r>
              <a:t>└──────────────────────────┘        └──────────────────────┘</a:t>
            </a:r>
            <a:b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3200">
                <a:solidFill>
                  <a:srgbClr val="0066CC"/>
                </a:solidFill>
              </a:defRPr>
            </a:pPr>
            <a:r>
              <a:t>Sequence Diagram - Component Addition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4572000"/>
          </a:xfrm>
          <a:prstGeom prst="roundRect">
            <a:avLst/>
          </a:prstGeom>
          <a:solidFill>
            <a:srgbClr val="F0F8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latin typeface="Courier New"/>
              </a:defRPr>
            </a:pPr>
            <a:br/>
            <a:r>
              <a:t>Designer     ComponentList   Canvas    ComponentRegistry</a:t>
            </a:r>
            <a:br/>
            <a:r>
              <a:t>   │               │            │              │</a:t>
            </a:r>
            <a:br/>
            <a:r>
              <a:t>   │ Click "+Add"  │            │              │</a:t>
            </a:r>
            <a:br/>
            <a:r>
              <a:t>   ├──────────────►│            │              │</a:t>
            </a:r>
            <a:br/>
            <a:r>
              <a:t>   │               │ Show Dialog│              │</a:t>
            </a:r>
            <a:br/>
            <a:r>
              <a:t>   │               ├───────────►│              │</a:t>
            </a:r>
            <a:br/>
            <a:r>
              <a:t>   │               │            │              │</a:t>
            </a:r>
            <a:br/>
            <a:r>
              <a:t>   │ Fill Form     │            │              │</a:t>
            </a:r>
            <a:br/>
            <a:r>
              <a:t>   │ Click Add     │            │              │</a:t>
            </a:r>
            <a:br/>
            <a:r>
              <a:t>   │               │            │  addType()   │</a:t>
            </a:r>
            <a:br/>
            <a:r>
              <a:t>   │               │            ├─────────────►│</a:t>
            </a:r>
            <a:br/>
            <a:r>
              <a:t>   │               │            │              │</a:t>
            </a:r>
            <a:br/>
            <a:r>
              <a:t>   │               │            │  Validate    │</a:t>
            </a:r>
            <a:br/>
            <a:r>
              <a:t>   │               │            │  Save JSON   │</a:t>
            </a:r>
            <a:br/>
            <a:r>
              <a:t>   │               │            │◄─────────────┤</a:t>
            </a:r>
            <a:br/>
            <a:r>
              <a:t>   │               │            │  Success     │</a:t>
            </a:r>
            <a:br/>
            <a:r>
              <a:t>   │               │ refreshList│              │</a:t>
            </a:r>
            <a:br/>
            <a:r>
              <a:t>   │               │◄───────────┤              │</a:t>
            </a:r>
            <a:br/>
            <a:r>
              <a:t>   │               │            │              │</a:t>
            </a:r>
            <a:br/>
            <a:r>
              <a:t>   │ Drag New Type │            │              │</a:t>
            </a:r>
            <a:br/>
            <a:r>
              <a:t>   ├──────────────►│            │              │</a:t>
            </a:r>
            <a:br/>
            <a:r>
              <a:t>   │               │ createComp │              │</a:t>
            </a:r>
            <a:br/>
            <a:r>
              <a:t>   │               ├───────────►│              │</a:t>
            </a:r>
            <a:br/>
            <a:r>
              <a:t>   │               │            │ getDefinition│</a:t>
            </a:r>
            <a:br/>
            <a:r>
              <a:t>   │               │            ├─────────────►│</a:t>
            </a:r>
            <a:br/>
            <a:r>
              <a:t>   │               │            │◄─────────────┤</a:t>
            </a:r>
            <a:br/>
            <a:r>
              <a:t>   │               │            │ Returns Data │</a:t>
            </a:r>
            <a:br/>
            <a:r>
              <a:t>   │               │◄───────────┤              │</a:t>
            </a:r>
            <a:br/>
            <a:r>
              <a:t>   │               │ Component  │              │</a:t>
            </a:r>
            <a:br/>
            <a:r>
              <a:t>   │◄──────────────┤ Added      │              │</a:t>
            </a:r>
            <a:br/>
            <a:r>
              <a:t>   │ Visual Update │            │              │</a:t>
            </a:r>
            <a:b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3200">
                <a:solidFill>
                  <a:srgbClr val="0066CC"/>
                </a:solidFill>
              </a:defRPr>
            </a:pPr>
            <a:r>
              <a:t>Sequence Diagram - Health Update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4572000"/>
          </a:xfrm>
          <a:prstGeom prst="roundRect">
            <a:avLst/>
          </a:prstGeom>
          <a:solidFill>
            <a:srgbClr val="F0F8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latin typeface="Courier New"/>
              </a:defRPr>
            </a:pPr>
            <a:br/>
            <a:r>
              <a:t>External      MessageServer   Canvas    Component   Analytics</a:t>
            </a:r>
            <a:br/>
            <a:r>
              <a:t>System            │            │           │            │</a:t>
            </a:r>
            <a:br/>
            <a:r>
              <a:t>  │               │            │           │            │</a:t>
            </a:r>
            <a:br/>
            <a:r>
              <a:t>  │ Send JSON     │            │           │            │</a:t>
            </a:r>
            <a:br/>
            <a:r>
              <a:t>  ├──────────────►│            │           │            │</a:t>
            </a:r>
            <a:br/>
            <a:r>
              <a:t>  │   (TCP/UDP)   │            │           │            │</a:t>
            </a:r>
            <a:br/>
            <a:r>
              <a:t>  │               │ Parse JSON │           │            │</a:t>
            </a:r>
            <a:br/>
            <a:r>
              <a:t>  │               │ Validate   │           │            │</a:t>
            </a:r>
            <a:br/>
            <a:r>
              <a:t>  │               │            │           │            │</a:t>
            </a:r>
            <a:br/>
            <a:r>
              <a:t>  │               │ Find Comp  │           │            │</a:t>
            </a:r>
            <a:br/>
            <a:r>
              <a:t>  │               ├───────────►│           │            │</a:t>
            </a:r>
            <a:br/>
            <a:r>
              <a:t>  │               │            │ getByID() │            │</a:t>
            </a:r>
            <a:br/>
            <a:r>
              <a:t>  │               │            ├──────────►│            │</a:t>
            </a:r>
            <a:br/>
            <a:r>
              <a:t>  │               │            │◄──────────┤            │</a:t>
            </a:r>
            <a:br/>
            <a:r>
              <a:t>  │               │            │  Return   │            │</a:t>
            </a:r>
            <a:br/>
            <a:r>
              <a:t>  │               │◄───────────┤           │            │</a:t>
            </a:r>
            <a:br/>
            <a:r>
              <a:t>  │               │            │           │            │</a:t>
            </a:r>
            <a:br/>
            <a:r>
              <a:t>  │               │ updateHealth()         │            │</a:t>
            </a:r>
            <a:br/>
            <a:r>
              <a:t>  │               ├────────────────────────►│            │</a:t>
            </a:r>
            <a:br/>
            <a:r>
              <a:t>  │               │            │           │ SetColor   │</a:t>
            </a:r>
            <a:br/>
            <a:r>
              <a:t>  │               │            │           │ SetSize    │</a:t>
            </a:r>
            <a:br/>
            <a:r>
              <a:t>  │               │            │           │ Repaint    │</a:t>
            </a:r>
            <a:br/>
            <a:r>
              <a:t>  │               │            │           │            │</a:t>
            </a:r>
            <a:br/>
            <a:r>
              <a:t>  │               │ recordEvent()          │            │</a:t>
            </a:r>
            <a:br/>
            <a:r>
              <a:t>  │               ├────────────────────────────────────►│</a:t>
            </a:r>
            <a:br/>
            <a:r>
              <a:t>  │               │            │           │            │</a:t>
            </a:r>
            <a:br/>
            <a:r>
              <a:t>  │               │            │           │ UpdateKPIs │</a:t>
            </a:r>
            <a:br/>
            <a:r>
              <a:t>  │               │            │           │ UpdateChart│</a:t>
            </a:r>
            <a:br/>
            <a:r>
              <a:t>  │◄──────────────┤            │           │            │</a:t>
            </a:r>
            <a:br/>
            <a:r>
              <a:t>  │   ACK         │            │           │            │</a:t>
            </a:r>
            <a:b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3200">
                <a:solidFill>
                  <a:srgbClr val="0066CC"/>
                </a:solidFill>
              </a:defRPr>
            </a:pPr>
            <a:r>
              <a:t>Sequence Diagram - Dashboard 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4572000"/>
          </a:xfrm>
          <a:prstGeom prst="roundRect">
            <a:avLst/>
          </a:prstGeom>
          <a:solidFill>
            <a:srgbClr val="F0F8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latin typeface="Courier New"/>
              </a:defRPr>
            </a:pPr>
            <a:br/>
            <a:r>
              <a:t>User      MainWindow   AnalyticsDashboard   Charts   DataEngine</a:t>
            </a:r>
            <a:br/>
            <a:r>
              <a:t> │            │                │               │          │</a:t>
            </a:r>
            <a:br/>
            <a:r>
              <a:t> │ Click      │                │               │          │</a:t>
            </a:r>
            <a:br/>
            <a:r>
              <a:t> │ Dashboard  │                │               │          │</a:t>
            </a:r>
            <a:br/>
            <a:r>
              <a:t> ├───────────►│                │               │          │</a:t>
            </a:r>
            <a:br/>
            <a:r>
              <a:t> │            │ Show Dashboard │               │          │</a:t>
            </a:r>
            <a:br/>
            <a:r>
              <a:t> │            ├───────────────►│               │          │</a:t>
            </a:r>
            <a:br/>
            <a:r>
              <a:t> │            │                │ Initialize    │          │</a:t>
            </a:r>
            <a:br/>
            <a:r>
              <a:t> │            │                │               │          │</a:t>
            </a:r>
            <a:br/>
            <a:r>
              <a:t> │            │                │ Create Charts │          │</a:t>
            </a:r>
            <a:br/>
            <a:r>
              <a:t> │            │                ├──────────────►│          │</a:t>
            </a:r>
            <a:br/>
            <a:r>
              <a:t> │            │                │               │ Generate │</a:t>
            </a:r>
            <a:br/>
            <a:r>
              <a:t> │            │                │               │ SampleData</a:t>
            </a:r>
            <a:br/>
            <a:r>
              <a:t> │            │                │               ├─────────►│</a:t>
            </a:r>
            <a:br/>
            <a:r>
              <a:t> │            │                │               │◄─────────┤</a:t>
            </a:r>
            <a:br/>
            <a:r>
              <a:t> │            │                │◄──────────────┤ Data     │</a:t>
            </a:r>
            <a:br/>
            <a:r>
              <a:t> │            │                │ Charts Ready  │          │</a:t>
            </a:r>
            <a:br/>
            <a:r>
              <a:t> │            │                │               │          │</a:t>
            </a:r>
            <a:br/>
            <a:r>
              <a:t> │            │                │ Calculate KPIs│          │</a:t>
            </a:r>
            <a:br/>
            <a:r>
              <a:t> │            │                │               │          │</a:t>
            </a:r>
            <a:br/>
            <a:r>
              <a:t> │            │◄───────────────┤               │          │</a:t>
            </a:r>
            <a:br/>
            <a:r>
              <a:t> │◄───────────┤ Dashboard Open │               │          │</a:t>
            </a:r>
            <a:br/>
            <a:r>
              <a:t> │            │                │               │          │</a:t>
            </a:r>
            <a:br/>
            <a:r>
              <a:t> │            │  Timer (5sec)  │               │          │</a:t>
            </a:r>
            <a:br/>
            <a:r>
              <a:t> │            │                │◄───────────────          │</a:t>
            </a:r>
            <a:br/>
            <a:r>
              <a:t> │            │                │ Auto Refresh  │          │</a:t>
            </a:r>
            <a:br/>
            <a:r>
              <a:t> │            │                │ Update Charts │          │</a:t>
            </a:r>
            <a:br/>
            <a:r>
              <a:t> │            │                │ Update KPIs   │          │</a:t>
            </a:r>
            <a:b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3200">
                <a:solidFill>
                  <a:srgbClr val="0066CC"/>
                </a:solidFill>
              </a:defRPr>
            </a:pPr>
            <a:r>
              <a:t>Deployment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4572000"/>
          </a:xfrm>
          <a:prstGeom prst="roundRect">
            <a:avLst/>
          </a:prstGeom>
          <a:solidFill>
            <a:srgbClr val="F0F8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latin typeface="Courier New"/>
              </a:defRPr>
            </a:pPr>
            <a:br/>
            <a:r>
              <a:t>┌────────────────────────────────────────────────────────────┐</a:t>
            </a:r>
            <a:br/>
            <a:r>
              <a:t>│                   Deployment Environment                    │</a:t>
            </a:r>
            <a:br/>
            <a:r>
              <a:t>│                                                             │</a:t>
            </a:r>
            <a:br/>
            <a:r>
              <a:t>│  ┌────────────────────────────────────────────────────┐   │</a:t>
            </a:r>
            <a:br/>
            <a:r>
              <a:t>│  │              Client Machine (Workstation)          │   │</a:t>
            </a:r>
            <a:br/>
            <a:r>
              <a:t>│  │  ┌──────────────────────────────────────────────┐  │   │</a:t>
            </a:r>
            <a:br/>
            <a:r>
              <a:t>│  │  │         Operating System (Linux/Windows)     │  │   │</a:t>
            </a:r>
            <a:br/>
            <a:r>
              <a:t>│  │  │  ┌────────────────────────────────────────┐  │  │   │</a:t>
            </a:r>
            <a:br/>
            <a:r>
              <a:t>│  │  │  │      Qt Runtime Environment            │  │  │   │</a:t>
            </a:r>
            <a:br/>
            <a:r>
              <a:t>│  │  │  │  ┌──────────────────────────────────┐  │  │  │   │</a:t>
            </a:r>
            <a:br/>
            <a:r>
              <a:t>│  │  │  │  │   UnifiedApp Executable          │  │  │  │   │</a:t>
            </a:r>
            <a:br/>
            <a:r>
              <a:t>│  │  │  │  │                                  │  │  │  │   │</a:t>
            </a:r>
            <a:br/>
            <a:r>
              <a:t>│  │  │  │  │  • GUI Components (Qt Widgets)  │  │  │  │   │</a:t>
            </a:r>
            <a:br/>
            <a:r>
              <a:t>│  │  │  │  │  • Network Listeners (Qt Net)   │  │  │  │   │</a:t>
            </a:r>
            <a:br/>
            <a:r>
              <a:t>│  │  │  │  │  • Charts (Qt Charts)           │  │  │  │   │</a:t>
            </a:r>
            <a:br/>
            <a:r>
              <a:t>│  │  │  │  │                                  │  │  │  │   │</a:t>
            </a:r>
            <a:br/>
            <a:r>
              <a:t>│  │  │  │  │  Binds to:                       │  │  │  │   │</a:t>
            </a:r>
            <a:br/>
            <a:r>
              <a:t>│  │  │  │  │  • TCP Port 12345                │  │  │  │   │</a:t>
            </a:r>
            <a:br/>
            <a:r>
              <a:t>│  │  │  │  │  • UDP Port 12346                │  │  │  │   │</a:t>
            </a:r>
            <a:br/>
            <a:r>
              <a:t>│  │  │  │  └──────────────┬───────────────────┘  │  │  │   │</a:t>
            </a:r>
            <a:br/>
            <a:r>
              <a:t>│  │  │  └────────────────┼────────────────────────┘  │  │   │</a:t>
            </a:r>
            <a:br/>
            <a:r>
              <a:t>│  │  │                   │                           │  │   │</a:t>
            </a:r>
            <a:br/>
            <a:r>
              <a:t>│  │  │  ┌────────────────┼────────────────────────┐  │  │   │</a:t>
            </a:r>
            <a:br/>
            <a:r>
              <a:t>│  │  │  │  Configuration Files                    │  │  │   │</a:t>
            </a:r>
            <a:br/>
            <a:r>
              <a:t>│  │  │  │  • components.json                      │  │  │   │</a:t>
            </a:r>
            <a:br/>
            <a:r>
              <a:t>│  │  │  │  • *.design files                       │  │  │   │</a:t>
            </a:r>
            <a:br/>
            <a:r>
              <a:t>│  │  │  │  • styles.qss                           │  │  │   │</a:t>
            </a:r>
            <a:br/>
            <a:r>
              <a:t>│  │  │  └─────────────────────────────────────────┘  │  │   │</a:t>
            </a:r>
            <a:br/>
            <a:r>
              <a:t>│  │  └──────────────────────────────────────────────┘  │   │</a:t>
            </a:r>
            <a:br/>
            <a:r>
              <a:t>│  └────────────────────────────────────────────────────┘   │</a:t>
            </a:r>
            <a:br/>
            <a:r>
              <a:t>│                                                             │</a:t>
            </a:r>
            <a:br/>
            <a:r>
              <a:t>│  ┌────────────────────────────────────────────────────┐   │</a:t>
            </a:r>
            <a:br/>
            <a:r>
              <a:t>│  │        External Simulator Machine (Optional)       │   │</a:t>
            </a:r>
            <a:br/>
            <a:r>
              <a:t>│  │  ┌──────────────────────────────────────────────┐  │   │</a:t>
            </a:r>
            <a:br/>
            <a:r>
              <a:t>│  │  │         Python 3.x Runtime                   │  │   │</a:t>
            </a:r>
            <a:br/>
            <a:r>
              <a:t>│  │  │  ┌────────────────────────────────────────┐  │  │   │</a:t>
            </a:r>
            <a:br/>
            <a:r>
              <a:t>│  │  │  │  Simulator Scripts                     │  │  │   │</a:t>
            </a:r>
            <a:br/>
            <a:r>
              <a:t>│  │  │  │  • external_system.py                  │  │  │   │</a:t>
            </a:r>
            <a:br/>
            <a:r>
              <a:t>│  │  │  │  • run_multiple_systems.py             │  │  │   │</a:t>
            </a:r>
            <a:br/>
            <a:r>
              <a:t>│  │  │  │  • apcu_simulator.py                   │  │  │   │</a:t>
            </a:r>
            <a:br/>
            <a:r>
              <a:t>│  │  │  │                                        │  │  │   │</a:t>
            </a:r>
            <a:br/>
            <a:r>
              <a:t>│  │  │  │  Connects to:                          │  │  │   │</a:t>
            </a:r>
            <a:br/>
            <a:r>
              <a:t>│  │  │  │  • localhost:12345 (TCP)               │  │  │   │</a:t>
            </a:r>
            <a:br/>
            <a:r>
              <a:t>│  │  │  │  • localhost:12346 (UDP)               │  │  │   │</a:t>
            </a:r>
            <a:br/>
            <a:r>
              <a:t>│  │  │  └────────────┬───────────────────────────┘  │  │   │</a:t>
            </a:r>
            <a:br/>
            <a:r>
              <a:t>│  │  └───────────────┼──────────────────────────────┘  │   │</a:t>
            </a:r>
            <a:br/>
            <a:r>
              <a:t>│  └──────────────────┼─────────────────────────────────┘   │</a:t>
            </a:r>
            <a:br/>
            <a:r>
              <a:t>│                     │                                      │</a:t>
            </a:r>
            <a:br/>
            <a:r>
              <a:t>│  ┌──────────────────┼─────────────────────────────────┐   │</a:t>
            </a:r>
            <a:br/>
            <a:r>
              <a:t>│  │  Network Layer   │                                 │   │</a:t>
            </a:r>
            <a:br/>
            <a:r>
              <a:t>│  │  ┌───────────────▼──────────────────────────────┐  │   │</a:t>
            </a:r>
            <a:br/>
            <a:r>
              <a:t>│  │  │     TCP/IP Stack (localhost or network)     │  │   │</a:t>
            </a:r>
            <a:br/>
            <a:r>
              <a:t>│  │  │     • TCP Sockets (reliable delivery)       │  │   │</a:t>
            </a:r>
            <a:br/>
            <a:r>
              <a:t>│  │  │     • UDP Sockets (low latency)             │  │   │</a:t>
            </a:r>
            <a:br/>
            <a:r>
              <a:t>│  │  └─────────────────────────────────────────────┘  │   │</a:t>
            </a:r>
            <a:br/>
            <a:r>
              <a:t>│  └────────────────────────────────────────────────────┘   │</a:t>
            </a:r>
            <a:br/>
            <a:r>
              <a:t>└────────────────────────────────────────────────────────────┘</a:t>
            </a:r>
            <a:br/>
            <a:br/>
            <a:r>
              <a:t>Network Topology:</a:t>
            </a:r>
            <a:br/>
            <a:r>
              <a:t>┌─────────────┐         TCP/UDP          ┌──────────────┐</a:t>
            </a:r>
            <a:br/>
            <a:r>
              <a:t>│  UnifiedApp │◄──────────────────────────│  Simulator 1 │</a:t>
            </a:r>
            <a:br/>
            <a:r>
              <a:t>│  (Server)   │                           └──────────────┘</a:t>
            </a:r>
            <a:br/>
            <a:r>
              <a:t>│             │         TCP/UDP          ┌──────────────┐</a:t>
            </a:r>
            <a:br/>
            <a:r>
              <a:t>│ Port 12345  │◄──────────────────────────│  Simulator 2 │</a:t>
            </a:r>
            <a:br/>
            <a:r>
              <a:t>│ Port 12346  │                           └──────────────┘</a:t>
            </a:r>
            <a:br/>
            <a:r>
              <a:t>│             │         TCP/UDP          ┌──────────────┐</a:t>
            </a:r>
            <a:br/>
            <a:r>
              <a:t>│             │◄──────────────────────────│  Simulator N │</a:t>
            </a:r>
            <a:br/>
            <a:r>
              <a:t>└─────────────┘                           └──────────────┘</a:t>
            </a:r>
            <a:b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066CC"/>
                </a:solidFill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886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Frontend / UI Framework:</a:t>
            </a:r>
          </a:p>
          <a:p>
            <a:pPr>
              <a:spcAft>
                <a:spcPts val="800"/>
              </a:spcAft>
              <a:defRPr sz="1400"/>
            </a:pPr>
            <a:r>
              <a:t>• Qt 5.x / 6.x</a:t>
            </a:r>
          </a:p>
          <a:p>
            <a:pPr>
              <a:spcAft>
                <a:spcPts val="800"/>
              </a:spcAft>
              <a:defRPr sz="1400"/>
            </a:pPr>
            <a:r>
              <a:t>  - Qt Widgets (GUI)</a:t>
            </a:r>
          </a:p>
          <a:p>
            <a:pPr>
              <a:spcAft>
                <a:spcPts val="800"/>
              </a:spcAft>
              <a:defRPr sz="1400"/>
            </a:pPr>
            <a:r>
              <a:t>  - Qt Network (TCP/UDP)</a:t>
            </a:r>
          </a:p>
          <a:p>
            <a:pPr>
              <a:spcAft>
                <a:spcPts val="800"/>
              </a:spcAft>
              <a:defRPr sz="1400"/>
            </a:pPr>
            <a:r>
              <a:t>  - Qt Charts (Visualization)</a:t>
            </a:r>
          </a:p>
          <a:p>
            <a:pPr>
              <a:spcAft>
                <a:spcPts val="800"/>
              </a:spcAft>
              <a:defRPr sz="1400"/>
            </a:pPr>
          </a:p>
          <a:p>
            <a:pPr>
              <a:spcAft>
                <a:spcPts val="800"/>
              </a:spcAft>
              <a:defRPr sz="1400"/>
            </a:pPr>
            <a:r>
              <a:t>Programming Languages:</a:t>
            </a:r>
          </a:p>
          <a:p>
            <a:pPr>
              <a:spcAft>
                <a:spcPts val="800"/>
              </a:spcAft>
              <a:defRPr sz="1400"/>
            </a:pPr>
            <a:r>
              <a:t>• C++ (Core Application)</a:t>
            </a:r>
          </a:p>
          <a:p>
            <a:pPr>
              <a:spcAft>
                <a:spcPts val="800"/>
              </a:spcAft>
              <a:defRPr sz="1400"/>
            </a:pPr>
            <a:r>
              <a:t>  - C++11/14/17 standards</a:t>
            </a:r>
          </a:p>
          <a:p>
            <a:pPr>
              <a:spcAft>
                <a:spcPts val="800"/>
              </a:spcAft>
              <a:defRPr sz="1400"/>
            </a:pPr>
            <a:r>
              <a:t>  - Object-oriented design</a:t>
            </a:r>
          </a:p>
          <a:p>
            <a:pPr>
              <a:spcAft>
                <a:spcPts val="800"/>
              </a:spcAft>
              <a:defRPr sz="1400"/>
            </a:pPr>
          </a:p>
          <a:p>
            <a:pPr>
              <a:spcAft>
                <a:spcPts val="800"/>
              </a:spcAft>
              <a:defRPr sz="1400"/>
            </a:pPr>
            <a:r>
              <a:t>• Python 3.x (Simulators)</a:t>
            </a:r>
          </a:p>
          <a:p>
            <a:pPr>
              <a:spcAft>
                <a:spcPts val="800"/>
              </a:spcAft>
              <a:defRPr sz="1400"/>
            </a:pPr>
            <a:r>
              <a:t>  - Standard library only</a:t>
            </a:r>
          </a:p>
          <a:p>
            <a:pPr>
              <a:spcAft>
                <a:spcPts val="800"/>
              </a:spcAft>
              <a:defRPr sz="1400"/>
            </a:pPr>
            <a:r>
              <a:t>  - Socket programming</a:t>
            </a:r>
          </a:p>
          <a:p>
            <a:pPr>
              <a:spcAft>
                <a:spcPts val="800"/>
              </a:spcAft>
              <a:defRPr sz="1400"/>
            </a:pPr>
          </a:p>
          <a:p>
            <a:pPr>
              <a:spcAft>
                <a:spcPts val="800"/>
              </a:spcAft>
              <a:defRPr sz="1400"/>
            </a:pPr>
            <a:r>
              <a:t>Data Formats:</a:t>
            </a:r>
          </a:p>
          <a:p>
            <a:pPr>
              <a:spcAft>
                <a:spcPts val="800"/>
              </a:spcAft>
              <a:defRPr sz="1400"/>
            </a:pPr>
            <a:r>
              <a:t>• JSON (Configuration &amp; Messages)</a:t>
            </a:r>
          </a:p>
          <a:p>
            <a:pPr>
              <a:spcAft>
                <a:spcPts val="800"/>
              </a:spcAft>
              <a:defRPr sz="1400"/>
            </a:pPr>
            <a:r>
              <a:t>• Custom .design format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00600" y="1371600"/>
            <a:ext cx="3886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Build System:</a:t>
            </a:r>
          </a:p>
          <a:p>
            <a:pPr>
              <a:spcAft>
                <a:spcPts val="800"/>
              </a:spcAft>
              <a:defRPr sz="1400"/>
            </a:pPr>
            <a:r>
              <a:t>• qmake (Qt project files)</a:t>
            </a:r>
          </a:p>
          <a:p>
            <a:pPr>
              <a:spcAft>
                <a:spcPts val="800"/>
              </a:spcAft>
              <a:defRPr sz="1400"/>
            </a:pPr>
            <a:r>
              <a:t>• make / nmake</a:t>
            </a:r>
          </a:p>
          <a:p>
            <a:pPr>
              <a:spcAft>
                <a:spcPts val="800"/>
              </a:spcAft>
              <a:defRPr sz="1400"/>
            </a:pPr>
          </a:p>
          <a:p>
            <a:pPr>
              <a:spcAft>
                <a:spcPts val="800"/>
              </a:spcAft>
              <a:defRPr sz="1400"/>
            </a:pPr>
            <a:r>
              <a:t>Key Libraries:</a:t>
            </a:r>
          </a:p>
          <a:p>
            <a:pPr>
              <a:spcAft>
                <a:spcPts val="800"/>
              </a:spcAft>
              <a:defRPr sz="1400"/>
            </a:pPr>
            <a:r>
              <a:t>• Qt Core (Base functionality)</a:t>
            </a:r>
          </a:p>
          <a:p>
            <a:pPr>
              <a:spcAft>
                <a:spcPts val="800"/>
              </a:spcAft>
              <a:defRPr sz="1400"/>
            </a:pPr>
            <a:r>
              <a:t>• Qt GUI (Graphics)</a:t>
            </a:r>
          </a:p>
          <a:p>
            <a:pPr>
              <a:spcAft>
                <a:spcPts val="800"/>
              </a:spcAft>
              <a:defRPr sz="1400"/>
            </a:pPr>
            <a:r>
              <a:t>• Qt Widgets (UI components)</a:t>
            </a:r>
          </a:p>
          <a:p>
            <a:pPr>
              <a:spcAft>
                <a:spcPts val="800"/>
              </a:spcAft>
              <a:defRPr sz="1400"/>
            </a:pPr>
            <a:r>
              <a:t>• Qt Network (Networking)</a:t>
            </a:r>
          </a:p>
          <a:p>
            <a:pPr>
              <a:spcAft>
                <a:spcPts val="800"/>
              </a:spcAft>
              <a:defRPr sz="1400"/>
            </a:pPr>
            <a:r>
              <a:t>• Qt Charts (Data visualization)</a:t>
            </a:r>
          </a:p>
          <a:p>
            <a:pPr>
              <a:spcAft>
                <a:spcPts val="800"/>
              </a:spcAft>
              <a:defRPr sz="1400"/>
            </a:pPr>
          </a:p>
          <a:p>
            <a:pPr>
              <a:spcAft>
                <a:spcPts val="800"/>
              </a:spcAft>
              <a:defRPr sz="1400"/>
            </a:pPr>
            <a:r>
              <a:t>Development Tools:</a:t>
            </a:r>
          </a:p>
          <a:p>
            <a:pPr>
              <a:spcAft>
                <a:spcPts val="800"/>
              </a:spcAft>
              <a:defRPr sz="1400"/>
            </a:pPr>
            <a:r>
              <a:t>• Qt Creator (IDE)</a:t>
            </a:r>
          </a:p>
          <a:p>
            <a:pPr>
              <a:spcAft>
                <a:spcPts val="800"/>
              </a:spcAft>
              <a:defRPr sz="1400"/>
            </a:pPr>
            <a:r>
              <a:t>• g++ / clang / MSVC (Compilers)</a:t>
            </a:r>
          </a:p>
          <a:p>
            <a:pPr>
              <a:spcAft>
                <a:spcPts val="800"/>
              </a:spcAft>
              <a:defRPr sz="1400"/>
            </a:pPr>
            <a:r>
              <a:t>• Git (Version control)</a:t>
            </a:r>
          </a:p>
          <a:p>
            <a:pPr>
              <a:spcAft>
                <a:spcPts val="800"/>
              </a:spcAft>
              <a:defRPr sz="1400"/>
            </a:pPr>
          </a:p>
          <a:p>
            <a:pPr>
              <a:spcAft>
                <a:spcPts val="800"/>
              </a:spcAft>
              <a:defRPr sz="1400"/>
            </a:pPr>
            <a:r>
              <a:t>Testing:</a:t>
            </a:r>
          </a:p>
          <a:p>
            <a:pPr>
              <a:spcAft>
                <a:spcPts val="800"/>
              </a:spcAft>
              <a:defRPr sz="1400"/>
            </a:pPr>
            <a:r>
              <a:t>• Shell scripts for integration tests</a:t>
            </a:r>
          </a:p>
          <a:p>
            <a:pPr>
              <a:spcAft>
                <a:spcPts val="800"/>
              </a:spcAft>
              <a:defRPr sz="1400"/>
            </a:pPr>
            <a:r>
              <a:t>• Python simulators for health data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3200">
                <a:solidFill>
                  <a:srgbClr val="0066CC"/>
                </a:solidFill>
              </a:defRPr>
            </a:pPr>
            <a:r>
              <a:t>Component Registry JSON Schema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4572000"/>
          </a:xfrm>
          <a:prstGeom prst="roundRect">
            <a:avLst/>
          </a:prstGeom>
          <a:solidFill>
            <a:srgbClr val="F0F8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latin typeface="Courier New"/>
              </a:defRPr>
            </a:pPr>
            <a:br/>
            <a:r>
              <a:t>{</a:t>
            </a:r>
            <a:br/>
            <a:r>
              <a:t>  "version": "2.0",</a:t>
            </a:r>
            <a:br/>
            <a:r>
              <a:t>  "description": "Modular component registry",</a:t>
            </a:r>
            <a:br/>
            <a:r>
              <a:t>  "components": [</a:t>
            </a:r>
            <a:br/>
            <a:r>
              <a:t>    {</a:t>
            </a:r>
            <a:br/>
            <a:r>
              <a:t>      "type_id": "Antenna",                // Unique identifier</a:t>
            </a:r>
            <a:br/>
            <a:r>
              <a:t>      "display_name": "Antenna System",    // Human-readable name</a:t>
            </a:r>
            <a:br/>
            <a:r>
              <a:t>      "label": "ANT",                      // Short canvas label</a:t>
            </a:r>
            <a:br/>
            <a:r>
              <a:t>      "description": "Phased array...",    // Description</a:t>
            </a:r>
            <a:br/>
            <a:r>
              <a:t>      "image_dir": "antenna",              // Image directory</a:t>
            </a:r>
            <a:br/>
            <a:r>
              <a:t>      "icon_color": "#4CAF50",             // Fallback color</a:t>
            </a:r>
            <a:br/>
            <a:r>
              <a:t>      "subsystems": [                      // Sub-components</a:t>
            </a:r>
            <a:br/>
            <a:r>
              <a:t>        "APCU Controller",</a:t>
            </a:r>
            <a:br/>
            <a:r>
              <a:t>        "Temperature Monitoring",</a:t>
            </a:r>
            <a:br/>
            <a:r>
              <a:t>        "Board Data"</a:t>
            </a:r>
            <a:br/>
            <a:r>
              <a:t>      ],</a:t>
            </a:r>
            <a:br/>
            <a:r>
              <a:t>      "allowed_widgets": [                 // Design widgets</a:t>
            </a:r>
            <a:br/>
            <a:r>
              <a:t>        "Label", "LineEdit", "Button"</a:t>
            </a:r>
            <a:br/>
            <a:r>
              <a:t>      ],</a:t>
            </a:r>
            <a:br/>
            <a:r>
              <a:t>      "protocol": "TCP",                   // Health protocol</a:t>
            </a:r>
            <a:br/>
            <a:r>
              <a:t>      "port": 12345,                       // Port number</a:t>
            </a:r>
            <a:br/>
            <a:r>
              <a:t>      "category": "Sensor",                // Category</a:t>
            </a:r>
            <a:br/>
            <a:r>
              <a:t>      "shape": "ellipse"                   // Fallback shape</a:t>
            </a:r>
            <a:br/>
            <a:r>
              <a:t>    }</a:t>
            </a:r>
            <a:br/>
            <a:r>
              <a:t>  ]</a:t>
            </a:r>
            <a:br/>
            <a:r>
              <a:t>}</a:t>
            </a:r>
            <a:br/>
            <a:br/>
            <a:r>
              <a:t>Benefits:</a:t>
            </a:r>
            <a:br/>
            <a:r>
              <a:t>• Zero-code component addition</a:t>
            </a:r>
            <a:br/>
            <a:r>
              <a:t>• Data-driven rendering</a:t>
            </a:r>
            <a:br/>
            <a:r>
              <a:t>• Backward compatibility</a:t>
            </a:r>
            <a:br/>
            <a:r>
              <a:t>• Extensible protocol support</a:t>
            </a:r>
            <a:b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0066CC"/>
                </a:solidFill>
              </a:defRPr>
            </a:pPr>
            <a:r>
              <a:t>Health Status Protocol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t>• JSON-based message format</a:t>
            </a:r>
          </a:p>
          <a:p>
            <a:pPr>
              <a:spcAft>
                <a:spcPts val="1200"/>
              </a:spcAft>
              <a:defRPr sz="1800"/>
            </a:pPr>
            <a:r>
              <a:t>• Message structure:</a:t>
            </a:r>
          </a:p>
          <a:p>
            <a:pPr lvl="1">
              <a:spcAft>
                <a:spcPts val="1200"/>
              </a:spcAft>
              <a:defRPr sz="1800"/>
            </a:pPr>
            <a:r>
              <a:t>{ "component_id": "comp_1", "color": "#00FF00", "size": 95.5 }</a:t>
            </a:r>
          </a:p>
          <a:p>
            <a:pPr>
              <a:spcAft>
                <a:spcPts val="1200"/>
              </a:spcAft>
              <a:defRPr sz="1800"/>
            </a:pPr>
            <a:r>
              <a:t>• Health level mapping:</a:t>
            </a:r>
          </a:p>
          <a:p>
            <a:pPr lvl="1">
              <a:spcAft>
                <a:spcPts val="1200"/>
              </a:spcAft>
              <a:defRPr sz="1800"/>
            </a:pPr>
            <a:r>
              <a:t>90-100%: Operational (Green #00FF00)</a:t>
            </a:r>
          </a:p>
          <a:p>
            <a:pPr lvl="1">
              <a:spcAft>
                <a:spcPts val="1200"/>
              </a:spcAft>
              <a:defRPr sz="1800"/>
            </a:pPr>
            <a:r>
              <a:t>70-89%: Warning (Yellow #FFFF00)</a:t>
            </a:r>
          </a:p>
          <a:p>
            <a:pPr lvl="1">
              <a:spcAft>
                <a:spcPts val="1200"/>
              </a:spcAft>
              <a:defRPr sz="1800"/>
            </a:pPr>
            <a:r>
              <a:t>40-69%: Degraded (Orange #FFA500)</a:t>
            </a:r>
          </a:p>
          <a:p>
            <a:pPr lvl="1">
              <a:spcAft>
                <a:spcPts val="1200"/>
              </a:spcAft>
              <a:defRPr sz="1800"/>
            </a:pPr>
            <a:r>
              <a:t>10-39%: Critical (Red #FF0000)</a:t>
            </a:r>
          </a:p>
          <a:p>
            <a:pPr lvl="1">
              <a:spcAft>
                <a:spcPts val="1200"/>
              </a:spcAft>
              <a:defRPr sz="1800"/>
            </a:pPr>
            <a:r>
              <a:t>0-9%: Offline (Gray #808080)</a:t>
            </a:r>
          </a:p>
          <a:p>
            <a:pPr>
              <a:spcAft>
                <a:spcPts val="1200"/>
              </a:spcAft>
              <a:defRPr sz="1800"/>
            </a:pPr>
            <a:r>
              <a:t>• Protocol options:</a:t>
            </a:r>
          </a:p>
          <a:p>
            <a:pPr lvl="1">
              <a:spcAft>
                <a:spcPts val="1200"/>
              </a:spcAft>
              <a:defRPr sz="1800"/>
            </a:pPr>
            <a:r>
              <a:t>TCP (Port 12345): Reliable, line-delimited</a:t>
            </a:r>
          </a:p>
          <a:p>
            <a:pPr lvl="1">
              <a:spcAft>
                <a:spcPts val="1200"/>
              </a:spcAft>
              <a:defRPr sz="1800"/>
            </a:pPr>
            <a:r>
              <a:t>UDP (Port 12346): Low-latency, fire-and-forget</a:t>
            </a:r>
          </a:p>
          <a:p>
            <a:pPr>
              <a:spcAft>
                <a:spcPts val="1200"/>
              </a:spcAft>
              <a:defRPr sz="1800"/>
            </a:pPr>
            <a:r>
              <a:t>• Multi-client support with concurrent connections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3200">
                <a:solidFill>
                  <a:srgbClr val="0066CC"/>
                </a:solidFill>
              </a:defRPr>
            </a:pPr>
            <a:r>
              <a:t>Project Structure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4572000"/>
          </a:xfrm>
          <a:prstGeom prst="roundRect">
            <a:avLst/>
          </a:prstGeom>
          <a:solidFill>
            <a:srgbClr val="F0F8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latin typeface="Courier New"/>
              </a:defRPr>
            </a:pPr>
            <a:br/>
            <a:r>
              <a:t>.</a:t>
            </a:r>
            <a:br/>
            <a:r>
              <a:t>├── UnifiedApp/                    # Main Qt Application</a:t>
            </a:r>
            <a:br/>
            <a:r>
              <a:t>│   ├── UnifiedApp.pro             # Qt project file</a:t>
            </a:r>
            <a:br/>
            <a:r>
              <a:t>│   ├── components.json            # Component registry</a:t>
            </a:r>
            <a:br/>
            <a:r>
              <a:t>│   ├── main.cpp                   # Application entry point</a:t>
            </a:r>
            <a:br/>
            <a:r>
              <a:t>│   ├── componentregistry.h/cpp    # Singleton registry</a:t>
            </a:r>
            <a:br/>
            <a:r>
              <a:t>│   ├── mainwindow.h/cpp           # Main window</a:t>
            </a:r>
            <a:br/>
            <a:r>
              <a:t>│   ├── component.h/cpp            # Component graphics item</a:t>
            </a:r>
            <a:br/>
            <a:r>
              <a:t>│   ├── canvas.h/cpp               # Designer canvas</a:t>
            </a:r>
            <a:br/>
            <a:r>
              <a:t>│   ├── messageserver.h/cpp        # Multi-protocol server</a:t>
            </a:r>
            <a:br/>
            <a:r>
              <a:t>│   ├── analyticsdashboard.h/cpp   # Analytics dashboard</a:t>
            </a:r>
            <a:br/>
            <a:r>
              <a:t>│   ├── logindialog.h/cpp          # Login with roles</a:t>
            </a:r>
            <a:br/>
            <a:r>
              <a:t>│   ├── thememanager.h/cpp         # Theme switching</a:t>
            </a:r>
            <a:br/>
            <a:r>
              <a:t>│   ├── subcomponent.h/cpp         # Sub-component support</a:t>
            </a:r>
            <a:br/>
            <a:r>
              <a:t>│   ├── connection.h/cpp           # Component connections</a:t>
            </a:r>
            <a:br/>
            <a:r>
              <a:t>│   ├── analytics.h/cpp            # Analytics widget</a:t>
            </a:r>
            <a:br/>
            <a:r>
              <a:t>│   └── styles*.qss                # Theme stylesheets</a:t>
            </a:r>
            <a:br/>
            <a:r>
              <a:t>│</a:t>
            </a:r>
            <a:br/>
            <a:r>
              <a:t>├── ExternalSystems/               # Python simulators</a:t>
            </a:r>
            <a:br/>
            <a:r>
              <a:t>│   ├── external_system.py         # Single component simulator</a:t>
            </a:r>
            <a:br/>
            <a:r>
              <a:t>│   ├── run_multiple_systems.py    # Multi-component launcher</a:t>
            </a:r>
            <a:br/>
            <a:r>
              <a:t>│   └── apcu_simulator.py          # APCU-specific simulator</a:t>
            </a:r>
            <a:br/>
            <a:r>
              <a:t>│</a:t>
            </a:r>
            <a:br/>
            <a:r>
              <a:t>├── assets/subsystems/             # Component images</a:t>
            </a:r>
            <a:br/>
            <a:r>
              <a:t>│   ├── antenna/</a:t>
            </a:r>
            <a:br/>
            <a:r>
              <a:t>│   ├── power_system/</a:t>
            </a:r>
            <a:br/>
            <a:r>
              <a:t>│   ├── liquid_cooling_unit/</a:t>
            </a:r>
            <a:br/>
            <a:r>
              <a:t>│   ├── communication_system/</a:t>
            </a:r>
            <a:br/>
            <a:r>
              <a:t>│   └── radar_computer/</a:t>
            </a:r>
            <a:br/>
            <a:r>
              <a:t>│</a:t>
            </a:r>
            <a:br/>
            <a:r>
              <a:t>└── Documentation/                 # Project docs</a:t>
            </a:r>
            <a:br/>
            <a:r>
              <a:t>    ├── README.md</a:t>
            </a:r>
            <a:br/>
            <a:r>
              <a:t>    ├── IMPLEMENTATION_SUMMARY.md</a:t>
            </a:r>
            <a:br/>
            <a:r>
              <a:t>    ├── ANALYTICS_DASHBOARD_GUIDE.md</a:t>
            </a:r>
            <a:br/>
            <a:r>
              <a:t>    └── DASHBOARD_FEATURES_SUMMARY.md</a:t>
            </a:r>
            <a:b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0066CC"/>
                </a:solidFill>
              </a:defRPr>
            </a:pPr>
            <a:r>
              <a:t>Build and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t>• Prerequisites:</a:t>
            </a:r>
          </a:p>
          <a:p>
            <a:pPr lvl="1">
              <a:spcAft>
                <a:spcPts val="1200"/>
              </a:spcAft>
              <a:defRPr sz="1800"/>
            </a:pPr>
            <a:r>
              <a:t>Qt 5.x or 6.x with development tools</a:t>
            </a:r>
          </a:p>
          <a:p>
            <a:pPr lvl="1">
              <a:spcAft>
                <a:spcPts val="1200"/>
              </a:spcAft>
              <a:defRPr sz="1800"/>
            </a:pPr>
            <a:r>
              <a:t>C++ compiler (g++, clang, or MSVC)</a:t>
            </a:r>
          </a:p>
          <a:p>
            <a:pPr lvl="1">
              <a:spcAft>
                <a:spcPts val="1200"/>
              </a:spcAft>
              <a:defRPr sz="1800"/>
            </a:pPr>
            <a:r>
              <a:t>Python 3.x for simulators</a:t>
            </a:r>
          </a:p>
          <a:p>
            <a:pPr>
              <a:spcAft>
                <a:spcPts val="1200"/>
              </a:spcAft>
              <a:defRPr sz="1800"/>
            </a:pPr>
            <a:r>
              <a:t>• Build steps:</a:t>
            </a:r>
          </a:p>
          <a:p>
            <a:pPr lvl="1">
              <a:spcAft>
                <a:spcPts val="1200"/>
              </a:spcAft>
              <a:defRPr sz="1800"/>
            </a:pPr>
            <a:r>
              <a:t>1. cd UnifiedApp</a:t>
            </a:r>
          </a:p>
          <a:p>
            <a:pPr lvl="1">
              <a:spcAft>
                <a:spcPts val="1200"/>
              </a:spcAft>
              <a:defRPr sz="1800"/>
            </a:pPr>
            <a:r>
              <a:t>2. qmake UnifiedApp.pro</a:t>
            </a:r>
          </a:p>
          <a:p>
            <a:pPr lvl="1">
              <a:spcAft>
                <a:spcPts val="1200"/>
              </a:spcAft>
              <a:defRPr sz="1800"/>
            </a:pPr>
            <a:r>
              <a:t>3. make (or nmake on Windows)</a:t>
            </a:r>
          </a:p>
          <a:p>
            <a:pPr lvl="1">
              <a:spcAft>
                <a:spcPts val="1200"/>
              </a:spcAft>
              <a:defRPr sz="1800"/>
            </a:pPr>
            <a:r>
              <a:t>4. ./UnifiedApp</a:t>
            </a:r>
          </a:p>
          <a:p>
            <a:pPr>
              <a:spcAft>
                <a:spcPts val="1200"/>
              </a:spcAft>
              <a:defRPr sz="1800"/>
            </a:pPr>
            <a:r>
              <a:t>• Installation packages:</a:t>
            </a:r>
          </a:p>
          <a:p>
            <a:pPr lvl="1">
              <a:spcAft>
                <a:spcPts val="1200"/>
              </a:spcAft>
              <a:defRPr sz="1800"/>
            </a:pPr>
            <a:r>
              <a:t>Ubuntu: sudo apt-get install qt5-default qtcharts5-dev</a:t>
            </a:r>
          </a:p>
          <a:p>
            <a:pPr lvl="1">
              <a:spcAft>
                <a:spcPts val="1200"/>
              </a:spcAft>
              <a:defRPr sz="1800"/>
            </a:pPr>
            <a:r>
              <a:t>Fedora: sudo dnf install qt5-qtbase-devel</a:t>
            </a:r>
          </a:p>
          <a:p>
            <a:pPr lvl="1">
              <a:spcAft>
                <a:spcPts val="1200"/>
              </a:spcAft>
              <a:defRPr sz="1800"/>
            </a:pPr>
            <a:r>
              <a:t>macOS: brew install qt@5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0066CC"/>
                </a:solidFill>
              </a:defRPr>
            </a:pPr>
            <a:r>
              <a:t>Complete Usage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t>• Step 1: Launch Application</a:t>
            </a:r>
          </a:p>
          <a:p>
            <a:pPr lvl="1">
              <a:spcAft>
                <a:spcPts val="1200"/>
              </a:spcAft>
              <a:defRPr sz="1800"/>
            </a:pPr>
            <a:r>
              <a:t>./UnifiedApp</a:t>
            </a:r>
          </a:p>
          <a:p>
            <a:pPr>
              <a:spcAft>
                <a:spcPts val="1200"/>
              </a:spcAft>
              <a:defRPr sz="1800"/>
            </a:pPr>
            <a:r>
              <a:t>• Step 2: Login</a:t>
            </a:r>
          </a:p>
          <a:p>
            <a:pPr lvl="1">
              <a:spcAft>
                <a:spcPts val="1200"/>
              </a:spcAft>
              <a:defRPr sz="1800"/>
            </a:pPr>
            <a:r>
              <a:t>Designer (Designer/designer) for design mode</a:t>
            </a:r>
          </a:p>
          <a:p>
            <a:pPr lvl="1">
              <a:spcAft>
                <a:spcPts val="1200"/>
              </a:spcAft>
              <a:defRPr sz="1800"/>
            </a:pPr>
            <a:r>
              <a:t>User (User/user) for runtime monitoring</a:t>
            </a:r>
          </a:p>
          <a:p>
            <a:pPr>
              <a:spcAft>
                <a:spcPts val="1200"/>
              </a:spcAft>
              <a:defRPr sz="1800"/>
            </a:pPr>
            <a:r>
              <a:t>• Step 3: Design System (Designer mode)</a:t>
            </a:r>
          </a:p>
          <a:p>
            <a:pPr lvl="1">
              <a:spcAft>
                <a:spcPts val="1200"/>
              </a:spcAft>
              <a:defRPr sz="1800"/>
            </a:pPr>
            <a:r>
              <a:t>Drag components from panel to canvas</a:t>
            </a:r>
          </a:p>
          <a:p>
            <a:pPr lvl="1">
              <a:spcAft>
                <a:spcPts val="1200"/>
              </a:spcAft>
              <a:defRPr sz="1800"/>
            </a:pPr>
            <a:r>
              <a:t>Draw connections between components</a:t>
            </a:r>
          </a:p>
          <a:p>
            <a:pPr lvl="1">
              <a:spcAft>
                <a:spcPts val="1200"/>
              </a:spcAft>
              <a:defRPr sz="1800"/>
            </a:pPr>
            <a:r>
              <a:t>Add custom component types if needed</a:t>
            </a:r>
          </a:p>
          <a:p>
            <a:pPr lvl="1">
              <a:spcAft>
                <a:spcPts val="1200"/>
              </a:spcAft>
              <a:defRPr sz="1800"/>
            </a:pPr>
            <a:r>
              <a:t>Save design file (.design)</a:t>
            </a:r>
          </a:p>
          <a:p>
            <a:pPr>
              <a:spcAft>
                <a:spcPts val="1200"/>
              </a:spcAft>
              <a:defRPr sz="1800"/>
            </a:pPr>
            <a:r>
              <a:t>• Step 4: Monitor System (Runtime mode)</a:t>
            </a:r>
          </a:p>
          <a:p>
            <a:pPr lvl="1">
              <a:spcAft>
                <a:spcPts val="1200"/>
              </a:spcAft>
              <a:defRPr sz="1800"/>
            </a:pPr>
            <a:r>
              <a:t>Load saved design</a:t>
            </a:r>
          </a:p>
          <a:p>
            <a:pPr lvl="1">
              <a:spcAft>
                <a:spcPts val="1200"/>
              </a:spcAft>
              <a:defRPr sz="1800"/>
            </a:pPr>
            <a:r>
              <a:t>Server auto-starts on ports 12345/12346</a:t>
            </a:r>
          </a:p>
          <a:p>
            <a:pPr>
              <a:spcAft>
                <a:spcPts val="1200"/>
              </a:spcAft>
              <a:defRPr sz="1800"/>
            </a:pPr>
            <a:r>
              <a:t>• Step 5: Start Simulators</a:t>
            </a:r>
          </a:p>
          <a:p>
            <a:pPr lvl="1">
              <a:spcAft>
                <a:spcPts val="1200"/>
              </a:spcAft>
              <a:defRPr sz="1800"/>
            </a:pPr>
            <a:r>
              <a:t>python3 run_multiple_systems.py --components comp_1 comp_2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0066CC"/>
                </a:solidFill>
              </a:defRPr>
            </a:pPr>
            <a:r>
              <a:t>Key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t>• Modularity</a:t>
            </a:r>
          </a:p>
          <a:p>
            <a:pPr lvl="1">
              <a:spcAft>
                <a:spcPts val="1200"/>
              </a:spcAft>
              <a:defRPr sz="1800"/>
            </a:pPr>
            <a:r>
              <a:t>Add components without code changes</a:t>
            </a:r>
          </a:p>
          <a:p>
            <a:pPr lvl="1">
              <a:spcAft>
                <a:spcPts val="1200"/>
              </a:spcAft>
              <a:defRPr sz="1800"/>
            </a:pPr>
            <a:r>
              <a:t>JSON-based configuration</a:t>
            </a:r>
          </a:p>
          <a:p>
            <a:pPr>
              <a:spcAft>
                <a:spcPts val="1200"/>
              </a:spcAft>
              <a:defRPr sz="1800"/>
            </a:pPr>
            <a:r>
              <a:t>• Flexibility</a:t>
            </a:r>
          </a:p>
          <a:p>
            <a:pPr lvl="1">
              <a:spcAft>
                <a:spcPts val="1200"/>
              </a:spcAft>
              <a:defRPr sz="1800"/>
            </a:pPr>
            <a:r>
              <a:t>Multi-protocol support (TCP, UDP, WebSocket, MQTT)</a:t>
            </a:r>
          </a:p>
          <a:p>
            <a:pPr lvl="1">
              <a:spcAft>
                <a:spcPts val="1200"/>
              </a:spcAft>
              <a:defRPr sz="1800"/>
            </a:pPr>
            <a:r>
              <a:t>Customizable component types and shapes</a:t>
            </a:r>
          </a:p>
          <a:p>
            <a:pPr>
              <a:spcAft>
                <a:spcPts val="1200"/>
              </a:spcAft>
              <a:defRPr sz="1800"/>
            </a:pPr>
            <a:r>
              <a:t>• Real-time Monitoring</a:t>
            </a:r>
          </a:p>
          <a:p>
            <a:pPr lvl="1">
              <a:spcAft>
                <a:spcPts val="1200"/>
              </a:spcAft>
              <a:defRPr sz="1800"/>
            </a:pPr>
            <a:r>
              <a:t>Live health status updates</a:t>
            </a:r>
          </a:p>
          <a:p>
            <a:pPr lvl="1">
              <a:spcAft>
                <a:spcPts val="1200"/>
              </a:spcAft>
              <a:defRPr sz="1800"/>
            </a:pPr>
            <a:r>
              <a:t>Visual color-coded indicators</a:t>
            </a:r>
          </a:p>
          <a:p>
            <a:pPr>
              <a:spcAft>
                <a:spcPts val="1200"/>
              </a:spcAft>
              <a:defRPr sz="1800"/>
            </a:pPr>
            <a:r>
              <a:t>• Rich Analytics</a:t>
            </a:r>
          </a:p>
          <a:p>
            <a:pPr lvl="1">
              <a:spcAft>
                <a:spcPts val="1200"/>
              </a:spcAft>
              <a:defRPr sz="1800"/>
            </a:pPr>
            <a:r>
              <a:t>10 different chart types</a:t>
            </a:r>
          </a:p>
          <a:p>
            <a:pPr lvl="1">
              <a:spcAft>
                <a:spcPts val="1200"/>
              </a:spcAft>
              <a:defRPr sz="1800"/>
            </a:pPr>
            <a:r>
              <a:t>Comprehensive KPI tracking</a:t>
            </a:r>
          </a:p>
          <a:p>
            <a:pPr>
              <a:spcAft>
                <a:spcPts val="1200"/>
              </a:spcAft>
              <a:defRPr sz="1800"/>
            </a:pPr>
            <a:r>
              <a:t>• User Experience</a:t>
            </a:r>
          </a:p>
          <a:p>
            <a:pPr lvl="1">
              <a:spcAft>
                <a:spcPts val="1200"/>
              </a:spcAft>
              <a:defRPr sz="1800"/>
            </a:pPr>
            <a:r>
              <a:t>Intuitive drag-and-drop designer</a:t>
            </a:r>
          </a:p>
          <a:p>
            <a:pPr lvl="1">
              <a:spcAft>
                <a:spcPts val="1200"/>
              </a:spcAft>
              <a:defRPr sz="1800"/>
            </a:pPr>
            <a:r>
              <a:t>Dark/Light theme support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0066CC"/>
                </a:solidFill>
              </a:defRPr>
            </a:pPr>
            <a:r>
              <a:t>Performance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t>• Efficient data structures</a:t>
            </a:r>
          </a:p>
          <a:p>
            <a:pPr lvl="1">
              <a:spcAft>
                <a:spcPts val="1200"/>
              </a:spcAft>
              <a:defRPr sz="1800"/>
            </a:pPr>
            <a:r>
              <a:t>QVector for component storage</a:t>
            </a:r>
          </a:p>
          <a:p>
            <a:pPr lvl="1">
              <a:spcAft>
                <a:spcPts val="1200"/>
              </a:spcAft>
              <a:defRPr sz="1800"/>
            </a:pPr>
            <a:r>
              <a:t>Hash-based component lookup</a:t>
            </a:r>
          </a:p>
          <a:p>
            <a:pPr>
              <a:spcAft>
                <a:spcPts val="1200"/>
              </a:spcAft>
              <a:defRPr sz="1800"/>
            </a:pPr>
            <a:r>
              <a:t>• Optimized rendering</a:t>
            </a:r>
          </a:p>
          <a:p>
            <a:pPr lvl="1">
              <a:spcAft>
                <a:spcPts val="1200"/>
              </a:spcAft>
              <a:defRPr sz="1800"/>
            </a:pPr>
            <a:r>
              <a:t>Qt Graphics View framework</a:t>
            </a:r>
          </a:p>
          <a:p>
            <a:pPr lvl="1">
              <a:spcAft>
                <a:spcPts val="1200"/>
              </a:spcAft>
              <a:defRPr sz="1800"/>
            </a:pPr>
            <a:r>
              <a:t>Smart repaint regions</a:t>
            </a:r>
          </a:p>
          <a:p>
            <a:pPr>
              <a:spcAft>
                <a:spcPts val="1200"/>
              </a:spcAft>
              <a:defRPr sz="1800"/>
            </a:pPr>
            <a:r>
              <a:t>• Network optimization</a:t>
            </a:r>
          </a:p>
          <a:p>
            <a:pPr lvl="1">
              <a:spcAft>
                <a:spcPts val="1200"/>
              </a:spcAft>
              <a:defRPr sz="1800"/>
            </a:pPr>
            <a:r>
              <a:t>Asynchronous message processing</a:t>
            </a:r>
          </a:p>
          <a:p>
            <a:pPr lvl="1">
              <a:spcAft>
                <a:spcPts val="1200"/>
              </a:spcAft>
              <a:defRPr sz="1800"/>
            </a:pPr>
            <a:r>
              <a:t>Multi-threaded server connections</a:t>
            </a:r>
          </a:p>
          <a:p>
            <a:pPr>
              <a:spcAft>
                <a:spcPts val="1200"/>
              </a:spcAft>
              <a:defRPr sz="1800"/>
            </a:pPr>
            <a:r>
              <a:t>• Memory management</a:t>
            </a:r>
          </a:p>
          <a:p>
            <a:pPr lvl="1">
              <a:spcAft>
                <a:spcPts val="1200"/>
              </a:spcAft>
              <a:defRPr sz="1800"/>
            </a:pPr>
            <a:r>
              <a:t>Qt parent-child ownership</a:t>
            </a:r>
          </a:p>
          <a:p>
            <a:pPr lvl="1">
              <a:spcAft>
                <a:spcPts val="1200"/>
              </a:spcAft>
              <a:defRPr sz="1800"/>
            </a:pPr>
            <a:r>
              <a:t>Smart pointers for dynamic objects</a:t>
            </a:r>
          </a:p>
          <a:p>
            <a:pPr>
              <a:spcAft>
                <a:spcPts val="1200"/>
              </a:spcAft>
              <a:defRPr sz="1800"/>
            </a:pPr>
            <a:r>
              <a:t>• Chart rendering</a:t>
            </a:r>
          </a:p>
          <a:p>
            <a:pPr lvl="1">
              <a:spcAft>
                <a:spcPts val="1200"/>
              </a:spcAft>
              <a:defRPr sz="1800"/>
            </a:pPr>
            <a:r>
              <a:t>Data sampling for large datasets</a:t>
            </a:r>
          </a:p>
          <a:p>
            <a:pPr lvl="1">
              <a:spcAft>
                <a:spcPts val="1200"/>
              </a:spcAft>
              <a:defRPr sz="1800"/>
            </a:pPr>
            <a:r>
              <a:t>Optimized refresh intervals (5 seconds)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0066CC"/>
                </a:solidFill>
              </a:defRPr>
            </a:pPr>
            <a:r>
              <a:t>Security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t>• Authentication</a:t>
            </a:r>
          </a:p>
          <a:p>
            <a:pPr lvl="1">
              <a:spcAft>
                <a:spcPts val="1200"/>
              </a:spcAft>
              <a:defRPr sz="1800"/>
            </a:pPr>
            <a:r>
              <a:t>Role-based access control (Designer/User)</a:t>
            </a:r>
          </a:p>
          <a:p>
            <a:pPr lvl="1">
              <a:spcAft>
                <a:spcPts val="1200"/>
              </a:spcAft>
              <a:defRPr sz="1800"/>
            </a:pPr>
            <a:r>
              <a:t>Login dialog with credentials</a:t>
            </a:r>
          </a:p>
          <a:p>
            <a:pPr>
              <a:spcAft>
                <a:spcPts val="1200"/>
              </a:spcAft>
              <a:defRPr sz="1800"/>
            </a:pPr>
            <a:r>
              <a:t>• Input validation</a:t>
            </a:r>
          </a:p>
          <a:p>
            <a:pPr lvl="1">
              <a:spcAft>
                <a:spcPts val="1200"/>
              </a:spcAft>
              <a:defRPr sz="1800"/>
            </a:pPr>
            <a:r>
              <a:t>JSON schema validation</a:t>
            </a:r>
          </a:p>
          <a:p>
            <a:pPr lvl="1">
              <a:spcAft>
                <a:spcPts val="1200"/>
              </a:spcAft>
              <a:defRPr sz="1800"/>
            </a:pPr>
            <a:r>
              <a:t>Component ID verification</a:t>
            </a:r>
          </a:p>
          <a:p>
            <a:pPr>
              <a:spcAft>
                <a:spcPts val="1200"/>
              </a:spcAft>
              <a:defRPr sz="1800"/>
            </a:pPr>
            <a:r>
              <a:t>• Network security</a:t>
            </a:r>
          </a:p>
          <a:p>
            <a:pPr lvl="1">
              <a:spcAft>
                <a:spcPts val="1200"/>
              </a:spcAft>
              <a:defRPr sz="1800"/>
            </a:pPr>
            <a:r>
              <a:t>Localhost by default (can be configured)</a:t>
            </a:r>
          </a:p>
          <a:p>
            <a:pPr lvl="1">
              <a:spcAft>
                <a:spcPts val="1200"/>
              </a:spcAft>
              <a:defRPr sz="1800"/>
            </a:pPr>
            <a:r>
              <a:t>Protocol validation for health messages</a:t>
            </a:r>
          </a:p>
          <a:p>
            <a:pPr>
              <a:spcAft>
                <a:spcPts val="1200"/>
              </a:spcAft>
              <a:defRPr sz="1800"/>
            </a:pPr>
            <a:r>
              <a:t>• Configuration security</a:t>
            </a:r>
          </a:p>
          <a:p>
            <a:pPr lvl="1">
              <a:spcAft>
                <a:spcPts val="1200"/>
              </a:spcAft>
              <a:defRPr sz="1800"/>
            </a:pPr>
            <a:r>
              <a:t>Restricted file access permissions</a:t>
            </a:r>
          </a:p>
          <a:p>
            <a:pPr lvl="1">
              <a:spcAft>
                <a:spcPts val="1200"/>
              </a:spcAft>
              <a:defRPr sz="1800"/>
            </a:pPr>
            <a:r>
              <a:t>Design file validation on load</a:t>
            </a:r>
          </a:p>
          <a:p>
            <a:pPr>
              <a:spcAft>
                <a:spcPts val="1200"/>
              </a:spcAft>
              <a:defRPr sz="1800"/>
            </a:pPr>
            <a:r>
              <a:t>• Future enhancements:</a:t>
            </a:r>
          </a:p>
          <a:p>
            <a:pPr lvl="1">
              <a:spcAft>
                <a:spcPts val="1200"/>
              </a:spcAft>
              <a:defRPr sz="1800"/>
            </a:pPr>
            <a:r>
              <a:t>TLS/SSL for network communication</a:t>
            </a:r>
          </a:p>
          <a:p>
            <a:pPr lvl="1">
              <a:spcAft>
                <a:spcPts val="1200"/>
              </a:spcAft>
              <a:defRPr sz="1800"/>
            </a:pPr>
            <a:r>
              <a:t>User database with hashed passwords</a:t>
            </a:r>
          </a:p>
          <a:p>
            <a:pPr lvl="1">
              <a:spcAft>
                <a:spcPts val="1200"/>
              </a:spcAft>
              <a:defRPr sz="1800"/>
            </a:pPr>
            <a:r>
              <a:t>Audit logging for security events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0066CC"/>
                </a:solidFill>
              </a:defRPr>
            </a:pPr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t>• Real-time data integration</a:t>
            </a:r>
          </a:p>
          <a:p>
            <a:pPr lvl="1">
              <a:spcAft>
                <a:spcPts val="1200"/>
              </a:spcAft>
              <a:defRPr sz="1800"/>
            </a:pPr>
            <a:r>
              <a:t>Connect dashboard to live component data</a:t>
            </a:r>
          </a:p>
          <a:p>
            <a:pPr lvl="1">
              <a:spcAft>
                <a:spcPts val="1200"/>
              </a:spcAft>
              <a:defRPr sz="1800"/>
            </a:pPr>
            <a:r>
              <a:t>Historical data persistence (database)</a:t>
            </a:r>
          </a:p>
          <a:p>
            <a:pPr>
              <a:spcAft>
                <a:spcPts val="1200"/>
              </a:spcAft>
              <a:defRPr sz="1800"/>
            </a:pPr>
            <a:r>
              <a:t>• Advanced analytics</a:t>
            </a:r>
          </a:p>
          <a:p>
            <a:pPr lvl="1">
              <a:spcAft>
                <a:spcPts val="1200"/>
              </a:spcAft>
              <a:defRPr sz="1800"/>
            </a:pPr>
            <a:r>
              <a:t>Predictive health analytics with ML</a:t>
            </a:r>
          </a:p>
          <a:p>
            <a:pPr lvl="1">
              <a:spcAft>
                <a:spcPts val="1200"/>
              </a:spcAft>
              <a:defRPr sz="1800"/>
            </a:pPr>
            <a:r>
              <a:t>Anomaly detection algorithms</a:t>
            </a:r>
          </a:p>
          <a:p>
            <a:pPr>
              <a:spcAft>
                <a:spcPts val="1200"/>
              </a:spcAft>
              <a:defRPr sz="1800"/>
            </a:pPr>
            <a:r>
              <a:t>• Enhanced protocols</a:t>
            </a:r>
          </a:p>
          <a:p>
            <a:pPr lvl="1">
              <a:spcAft>
                <a:spcPts val="1200"/>
              </a:spcAft>
              <a:defRPr sz="1800"/>
            </a:pPr>
            <a:r>
              <a:t>WebSocket implementation</a:t>
            </a:r>
          </a:p>
          <a:p>
            <a:pPr lvl="1">
              <a:spcAft>
                <a:spcPts val="1200"/>
              </a:spcAft>
              <a:defRPr sz="1800"/>
            </a:pPr>
            <a:r>
              <a:t>MQTT broker integration</a:t>
            </a:r>
          </a:p>
          <a:p>
            <a:pPr>
              <a:spcAft>
                <a:spcPts val="1200"/>
              </a:spcAft>
              <a:defRPr sz="1800"/>
            </a:pPr>
            <a:r>
              <a:t>• Export and reporting</a:t>
            </a:r>
          </a:p>
          <a:p>
            <a:pPr lvl="1">
              <a:spcAft>
                <a:spcPts val="1200"/>
              </a:spcAft>
              <a:defRPr sz="1800"/>
            </a:pPr>
            <a:r>
              <a:t>CSV/Excel data export</a:t>
            </a:r>
          </a:p>
          <a:p>
            <a:pPr lvl="1">
              <a:spcAft>
                <a:spcPts val="1200"/>
              </a:spcAft>
              <a:defRPr sz="1800"/>
            </a:pPr>
            <a:r>
              <a:t>PDF report generation with charts</a:t>
            </a:r>
          </a:p>
          <a:p>
            <a:pPr>
              <a:spcAft>
                <a:spcPts val="1200"/>
              </a:spcAft>
              <a:defRPr sz="1800"/>
            </a:pPr>
            <a:r>
              <a:t>• Customization</a:t>
            </a:r>
          </a:p>
          <a:p>
            <a:pPr lvl="1">
              <a:spcAft>
                <a:spcPts val="1200"/>
              </a:spcAft>
              <a:defRPr sz="1800"/>
            </a:pPr>
            <a:r>
              <a:t>User-configurable dashboard layouts</a:t>
            </a:r>
          </a:p>
          <a:p>
            <a:pPr lvl="1">
              <a:spcAft>
                <a:spcPts val="1200"/>
              </a:spcAft>
              <a:defRPr sz="1800"/>
            </a:pPr>
            <a:r>
              <a:t>Custom chart creation wizard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0066CC"/>
                </a:solidFill>
              </a:defRPr>
            </a:pPr>
            <a:r>
              <a:t>Testing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t>• Unit Testing</a:t>
            </a:r>
          </a:p>
          <a:p>
            <a:pPr lvl="1">
              <a:spcAft>
                <a:spcPts val="1200"/>
              </a:spcAft>
              <a:defRPr sz="1800"/>
            </a:pPr>
            <a:r>
              <a:t>Component Registry validation</a:t>
            </a:r>
          </a:p>
          <a:p>
            <a:pPr lvl="1">
              <a:spcAft>
                <a:spcPts val="1200"/>
              </a:spcAft>
              <a:defRPr sz="1800"/>
            </a:pPr>
            <a:r>
              <a:t>JSON parsing and validation</a:t>
            </a:r>
          </a:p>
          <a:p>
            <a:pPr>
              <a:spcAft>
                <a:spcPts val="1200"/>
              </a:spcAft>
              <a:defRPr sz="1800"/>
            </a:pPr>
            <a:r>
              <a:t>• Integration Testing</a:t>
            </a:r>
          </a:p>
          <a:p>
            <a:pPr lvl="1">
              <a:spcAft>
                <a:spcPts val="1200"/>
              </a:spcAft>
              <a:defRPr sz="1800"/>
            </a:pPr>
            <a:r>
              <a:t>Message server with simulators</a:t>
            </a:r>
          </a:p>
          <a:p>
            <a:pPr lvl="1">
              <a:spcAft>
                <a:spcPts val="1200"/>
              </a:spcAft>
              <a:defRPr sz="1800"/>
            </a:pPr>
            <a:r>
              <a:t>Component health update flow</a:t>
            </a:r>
          </a:p>
          <a:p>
            <a:pPr lvl="1">
              <a:spcAft>
                <a:spcPts val="1200"/>
              </a:spcAft>
              <a:defRPr sz="1800"/>
            </a:pPr>
            <a:r>
              <a:t>Shell scripts: test_component_hierarchy.sh</a:t>
            </a:r>
          </a:p>
          <a:p>
            <a:pPr>
              <a:spcAft>
                <a:spcPts val="1200"/>
              </a:spcAft>
              <a:defRPr sz="1800"/>
            </a:pPr>
            <a:r>
              <a:t>• System Testing</a:t>
            </a:r>
          </a:p>
          <a:p>
            <a:pPr lvl="1">
              <a:spcAft>
                <a:spcPts val="1200"/>
              </a:spcAft>
              <a:defRPr sz="1800"/>
            </a:pPr>
            <a:r>
              <a:t>End-to-end workflow validation</a:t>
            </a:r>
          </a:p>
          <a:p>
            <a:pPr lvl="1">
              <a:spcAft>
                <a:spcPts val="1200"/>
              </a:spcAft>
              <a:defRPr sz="1800"/>
            </a:pPr>
            <a:r>
              <a:t>Designer to Runtime workflow</a:t>
            </a:r>
          </a:p>
          <a:p>
            <a:pPr>
              <a:spcAft>
                <a:spcPts val="1200"/>
              </a:spcAft>
              <a:defRPr sz="1800"/>
            </a:pPr>
            <a:r>
              <a:t>• UI Testing</a:t>
            </a:r>
          </a:p>
          <a:p>
            <a:pPr lvl="1">
              <a:spcAft>
                <a:spcPts val="1200"/>
              </a:spcAft>
              <a:defRPr sz="1800"/>
            </a:pPr>
            <a:r>
              <a:t>Theme switching validation</a:t>
            </a:r>
          </a:p>
          <a:p>
            <a:pPr lvl="1">
              <a:spcAft>
                <a:spcPts val="1200"/>
              </a:spcAft>
              <a:defRPr sz="1800"/>
            </a:pPr>
            <a:r>
              <a:t>Dashboard rendering tests</a:t>
            </a:r>
          </a:p>
          <a:p>
            <a:pPr>
              <a:spcAft>
                <a:spcPts val="1200"/>
              </a:spcAft>
              <a:defRPr sz="1800"/>
            </a:pPr>
            <a:r>
              <a:t>• Performance Testing</a:t>
            </a:r>
          </a:p>
          <a:p>
            <a:pPr lvl="1">
              <a:spcAft>
                <a:spcPts val="1200"/>
              </a:spcAft>
              <a:defRPr sz="1800"/>
            </a:pPr>
            <a:r>
              <a:t>Multi-client connection load</a:t>
            </a:r>
          </a:p>
          <a:p>
            <a:pPr lvl="1">
              <a:spcAft>
                <a:spcPts val="1200"/>
              </a:spcAft>
              <a:defRPr sz="1800"/>
            </a:pPr>
            <a:r>
              <a:t>Chart rendering with large datasets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0066CC"/>
                </a:solidFill>
              </a:defRPr>
            </a:pPr>
            <a:r>
              <a:t>Project Documentation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t>• README.md</a:t>
            </a:r>
          </a:p>
          <a:p>
            <a:pPr lvl="1">
              <a:spcAft>
                <a:spcPts val="1200"/>
              </a:spcAft>
              <a:defRPr sz="1800"/>
            </a:pPr>
            <a:r>
              <a:t>Comprehensive project overview</a:t>
            </a:r>
          </a:p>
          <a:p>
            <a:pPr lvl="1">
              <a:spcAft>
                <a:spcPts val="1200"/>
              </a:spcAft>
              <a:defRPr sz="1800"/>
            </a:pPr>
            <a:r>
              <a:t>Quick start guide</a:t>
            </a:r>
          </a:p>
          <a:p>
            <a:pPr lvl="1">
              <a:spcAft>
                <a:spcPts val="1200"/>
              </a:spcAft>
              <a:defRPr sz="1800"/>
            </a:pPr>
            <a:r>
              <a:t>Feature descriptions</a:t>
            </a:r>
          </a:p>
          <a:p>
            <a:pPr>
              <a:spcAft>
                <a:spcPts val="1200"/>
              </a:spcAft>
              <a:defRPr sz="1800"/>
            </a:pPr>
            <a:r>
              <a:t>• IMPLEMENTATION_SUMMARY.md</a:t>
            </a:r>
          </a:p>
          <a:p>
            <a:pPr lvl="1">
              <a:spcAft>
                <a:spcPts val="1200"/>
              </a:spcAft>
              <a:defRPr sz="1800"/>
            </a:pPr>
            <a:r>
              <a:t>Detailed implementation notes</a:t>
            </a:r>
          </a:p>
          <a:p>
            <a:pPr lvl="1">
              <a:spcAft>
                <a:spcPts val="1200"/>
              </a:spcAft>
              <a:defRPr sz="1800"/>
            </a:pPr>
            <a:r>
              <a:t>Code statistics and metrics</a:t>
            </a:r>
          </a:p>
          <a:p>
            <a:pPr>
              <a:spcAft>
                <a:spcPts val="1200"/>
              </a:spcAft>
              <a:defRPr sz="1800"/>
            </a:pPr>
            <a:r>
              <a:t>• ANALYTICS_DASHBOARD_GUIDE.md</a:t>
            </a:r>
          </a:p>
          <a:p>
            <a:pPr lvl="1">
              <a:spcAft>
                <a:spcPts val="1200"/>
              </a:spcAft>
              <a:defRPr sz="1800"/>
            </a:pPr>
            <a:r>
              <a:t>Dashboard usage and features</a:t>
            </a:r>
          </a:p>
          <a:p>
            <a:pPr lvl="1">
              <a:spcAft>
                <a:spcPts val="1200"/>
              </a:spcAft>
              <a:defRPr sz="1800"/>
            </a:pPr>
            <a:r>
              <a:t>Chart type descriptions</a:t>
            </a:r>
          </a:p>
          <a:p>
            <a:pPr>
              <a:spcAft>
                <a:spcPts val="1200"/>
              </a:spcAft>
              <a:defRPr sz="1800"/>
            </a:pPr>
            <a:r>
              <a:t>• DASHBOARD_FEATURES_SUMMARY.md</a:t>
            </a:r>
          </a:p>
          <a:p>
            <a:pPr lvl="1">
              <a:spcAft>
                <a:spcPts val="1200"/>
              </a:spcAft>
              <a:defRPr sz="1800"/>
            </a:pPr>
            <a:r>
              <a:t>Quick reference for dashboard</a:t>
            </a:r>
          </a:p>
          <a:p>
            <a:pPr>
              <a:spcAft>
                <a:spcPts val="1200"/>
              </a:spcAft>
              <a:defRPr sz="1800"/>
            </a:pPr>
            <a:r>
              <a:t>• Code Comments</a:t>
            </a:r>
          </a:p>
          <a:p>
            <a:pPr lvl="1">
              <a:spcAft>
                <a:spcPts val="1200"/>
              </a:spcAft>
              <a:defRPr sz="1800"/>
            </a:pPr>
            <a:r>
              <a:t>Inline documentation in source files</a:t>
            </a:r>
          </a:p>
          <a:p>
            <a:pPr lvl="1">
              <a:spcAft>
                <a:spcPts val="1200"/>
              </a:spcAft>
              <a:defRPr sz="1800"/>
            </a:pPr>
            <a:r>
              <a:t>Function and class descriptions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0066CC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t>• Comprehensive radar system monitoring solution</a:t>
            </a:r>
          </a:p>
          <a:p>
            <a:pPr>
              <a:spcAft>
                <a:spcPts val="1200"/>
              </a:spcAft>
              <a:defRPr sz="1800"/>
            </a:pPr>
            <a:r>
              <a:t>• Modern architecture with proven design patterns</a:t>
            </a:r>
          </a:p>
          <a:p>
            <a:pPr>
              <a:spcAft>
                <a:spcPts val="1200"/>
              </a:spcAft>
              <a:defRPr sz="1800"/>
            </a:pPr>
            <a:r>
              <a:t>• Modular and extensible by design</a:t>
            </a:r>
          </a:p>
          <a:p>
            <a:pPr>
              <a:spcAft>
                <a:spcPts val="1200"/>
              </a:spcAft>
              <a:defRPr sz="1800"/>
            </a:pPr>
            <a:r>
              <a:t>• Rich real-time visualization capabilities</a:t>
            </a:r>
          </a:p>
          <a:p>
            <a:pPr>
              <a:spcAft>
                <a:spcPts val="1200"/>
              </a:spcAft>
              <a:defRPr sz="1800"/>
            </a:pPr>
            <a:r>
              <a:t>• Multi-protocol support for flexibility</a:t>
            </a:r>
          </a:p>
          <a:p>
            <a:pPr>
              <a:spcAft>
                <a:spcPts val="1200"/>
              </a:spcAft>
              <a:defRPr sz="1800"/>
            </a:pPr>
            <a:r>
              <a:t>• Professional UI/UX with theme support</a:t>
            </a:r>
          </a:p>
          <a:p>
            <a:pPr>
              <a:spcAft>
                <a:spcPts val="1200"/>
              </a:spcAft>
              <a:defRPr sz="1800"/>
            </a:pPr>
            <a:r>
              <a:t>• Well-documented and maintainable codebase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Key Achievements:</a:t>
            </a:r>
          </a:p>
          <a:p>
            <a:pPr lvl="1">
              <a:spcAft>
                <a:spcPts val="1200"/>
              </a:spcAft>
              <a:defRPr sz="1800"/>
            </a:pPr>
            <a:r>
              <a:t>✓ Zero-code component extension via JSON</a:t>
            </a:r>
          </a:p>
          <a:p>
            <a:pPr lvl="1">
              <a:spcAft>
                <a:spcPts val="1200"/>
              </a:spcAft>
              <a:defRPr sz="1800"/>
            </a:pPr>
            <a:r>
              <a:t>✓ Real-time multi-protocol health monitoring</a:t>
            </a:r>
          </a:p>
          <a:p>
            <a:pPr lvl="1">
              <a:spcAft>
                <a:spcPts val="1200"/>
              </a:spcAft>
              <a:defRPr sz="1800"/>
            </a:pPr>
            <a:r>
              <a:t>✓ Advanced analytics with 10 chart types</a:t>
            </a:r>
          </a:p>
          <a:p>
            <a:pPr lvl="1">
              <a:spcAft>
                <a:spcPts val="1200"/>
              </a:spcAft>
              <a:defRPr sz="1800"/>
            </a:pPr>
            <a:r>
              <a:t>✓ Designer and Runtime modes in unified app</a:t>
            </a:r>
          </a:p>
          <a:p>
            <a:pPr lvl="1">
              <a:spcAft>
                <a:spcPts val="1200"/>
              </a:spcAft>
              <a:defRPr sz="1800"/>
            </a:pPr>
            <a:r>
              <a:t>✓ Comprehensive documentation and testing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 sz="4400">
                <a:solidFill>
                  <a:srgbClr val="0066CC"/>
                </a:solidFill>
              </a:defRPr>
            </a:pPr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Radar System Monitoring Application</a:t>
            </a:r>
          </a:p>
          <a:p/>
          <a:p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